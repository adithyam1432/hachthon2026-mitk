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Problem Statement and Pain Points</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Privacy and Credential Leakage in Autonomous AI Agent Workflows</a:t>
            </a:r>
          </a:p>
        </p:txBody>
      </p:sp>
      <p:sp>
        <p:nvSpPr>
          <p:cNvPr id="5" name="Rounded Rectangle 4"/>
          <p:cNvSpPr/>
          <p:nvPr/>
        </p:nvSpPr>
        <p:spPr>
          <a:xfrm>
            <a:off x="731520" y="1325880"/>
            <a:ext cx="10728655" cy="5029200"/>
          </a:xfrm>
          <a:prstGeom prst="roundRect">
            <a:avLst/>
          </a:prstGeom>
          <a:solidFill>
            <a:srgbClr val="FAFAFA"/>
          </a:solidFill>
          <a:ln w="1524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spcAft>
                <a:spcPts val="400"/>
              </a:spcAft>
              <a:defRPr sz="1400" b="1">
                <a:solidFill>
                  <a:srgbClr val="000000"/>
                </a:solidFill>
                <a:latin typeface="Times New Roman"/>
              </a:defRPr>
            </a:pPr>
            <a:r>
              <a:rPr sz="1400" b="1">
                <a:solidFill>
                  <a:srgbClr val="000000"/>
                </a:solidFill>
                <a:latin typeface="Times New Roman"/>
              </a:rPr>
              <a:t>Problem Statement:</a:t>
            </a:r>
          </a:p>
          <a:p>
            <a:pPr>
              <a:spcAft>
                <a:spcPts val="1600"/>
              </a:spcAft>
              <a:defRPr sz="1200" b="0">
                <a:solidFill>
                  <a:srgbClr val="000000"/>
                </a:solidFill>
                <a:latin typeface="Times New Roman"/>
              </a:defRPr>
            </a:pPr>
            <a:r>
              <a:rPr sz="1200" b="0">
                <a:solidFill>
                  <a:srgbClr val="000000"/>
                </a:solidFill>
                <a:latin typeface="Times New Roman"/>
              </a:rPr>
              <a:t>Autonomous AI agents executing third-party tool calls (Email, CRM, Payment APIs, Databases) frequently pass unredacted personal information, financial identifiers, and credentials directly over the network wire, causing severe data privacy and regulatory breaches.</a:t>
            </a:r>
          </a:p>
          <a:p>
            <a:pPr>
              <a:spcAft>
                <a:spcPts val="800"/>
              </a:spcAft>
              <a:defRPr sz="1400" b="1">
                <a:solidFill>
                  <a:srgbClr val="000000"/>
                </a:solidFill>
                <a:latin typeface="Times New Roman"/>
              </a:defRPr>
            </a:pPr>
            <a:r>
              <a:rPr sz="1400" b="1">
                <a:solidFill>
                  <a:srgbClr val="000000"/>
                </a:solidFill>
                <a:latin typeface="Times New Roman"/>
              </a:rPr>
              <a:t>Key Pain Points:</a:t>
            </a:r>
          </a:p>
          <a:p>
            <a:pPr>
              <a:spcAft>
                <a:spcPts val="1000"/>
              </a:spcAft>
            </a:pPr>
            <a:r>
              <a:rPr sz="1200" b="1">
                <a:solidFill>
                  <a:srgbClr val="000000"/>
                </a:solidFill>
                <a:latin typeface="Times New Roman"/>
              </a:rPr>
              <a:t>1. Direct PII &amp; Credential Exposure: </a:t>
            </a:r>
            <a:r>
              <a:rPr sz="1200" b="0">
                <a:solidFill>
                  <a:srgbClr val="000000"/>
                </a:solidFill>
                <a:latin typeface="Times New Roman"/>
              </a:rPr>
              <a:t>Customer names, phone numbers, emails, SSNs, and credit cards are routinely forwarded in cleartext to external API providers and third-party logs.</a:t>
            </a:r>
          </a:p>
          <a:p>
            <a:pPr>
              <a:spcAft>
                <a:spcPts val="1000"/>
              </a:spcAft>
            </a:pPr>
            <a:r>
              <a:rPr sz="1200" b="1">
                <a:solidFill>
                  <a:srgbClr val="000000"/>
                </a:solidFill>
                <a:latin typeface="Times New Roman"/>
              </a:rPr>
              <a:t>2. Adversarial Evasion &amp; Smuggling: </a:t>
            </a:r>
            <a:r>
              <a:rPr sz="1200" b="0">
                <a:solidFill>
                  <a:srgbClr val="000000"/>
                </a:solidFill>
                <a:latin typeface="Times New Roman"/>
              </a:rPr>
              <a:t>Prompt injection techniques bypass traditional regex using invisible zero-width Unicode characters (\u200B), Base64 encoding, and character delimiters.</a:t>
            </a:r>
          </a:p>
          <a:p>
            <a:pPr>
              <a:spcAft>
                <a:spcPts val="1000"/>
              </a:spcAft>
            </a:pPr>
            <a:r>
              <a:rPr sz="1200" b="1">
                <a:solidFill>
                  <a:srgbClr val="000000"/>
                </a:solidFill>
                <a:latin typeface="Times New Roman"/>
              </a:rPr>
              <a:t>3. High Latency &amp; Broken Tool Execution: </a:t>
            </a:r>
            <a:r>
              <a:rPr sz="1200" b="0">
                <a:solidFill>
                  <a:srgbClr val="000000"/>
                </a:solidFill>
                <a:latin typeface="Times New Roman"/>
              </a:rPr>
              <a:t>Conventional cloud DLP gateways introduce 200–500 ms delays, while irreversible redaction breaks downstream API arguments and corrupts agent execution.</a:t>
            </a:r>
          </a:p>
          <a:p>
            <a:pPr>
              <a:spcAft>
                <a:spcPts val="1000"/>
              </a:spcAft>
            </a:pPr>
            <a:r>
              <a:rPr sz="1200" b="1">
                <a:solidFill>
                  <a:srgbClr val="000000"/>
                </a:solidFill>
                <a:latin typeface="Times New Roman"/>
              </a:rPr>
              <a:t>4. Severe Regulatory Penalties: </a:t>
            </a:r>
            <a:r>
              <a:rPr sz="1200" b="0">
                <a:solidFill>
                  <a:srgbClr val="000000"/>
                </a:solidFill>
                <a:latin typeface="Times New Roman"/>
              </a:rPr>
              <a:t>Unauthorized personal data transmission violates GDPR, HIPAA, and DPDP Act 2023 mandates, exposing enterprises to substantial legal fines.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Solution Given to That Problem Through Our Product</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PII Firewall for AI Agents: Zero-Trust, Sub-Millisecond Privacy Middleware</a:t>
            </a:r>
          </a:p>
        </p:txBody>
      </p:sp>
      <p:sp>
        <p:nvSpPr>
          <p:cNvPr id="5" name="Rounded Rectangle 4"/>
          <p:cNvSpPr/>
          <p:nvPr/>
        </p:nvSpPr>
        <p:spPr>
          <a:xfrm>
            <a:off x="731520" y="1325880"/>
            <a:ext cx="10728655" cy="5029200"/>
          </a:xfrm>
          <a:prstGeom prst="roundRect">
            <a:avLst/>
          </a:prstGeom>
          <a:solidFill>
            <a:srgbClr val="FAFAFA"/>
          </a:solidFill>
          <a:ln w="1524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spcAft>
                <a:spcPts val="400"/>
              </a:spcAft>
              <a:defRPr sz="1400" b="1">
                <a:solidFill>
                  <a:srgbClr val="000000"/>
                </a:solidFill>
                <a:latin typeface="Times New Roman"/>
              </a:defRPr>
            </a:pPr>
            <a:r>
              <a:rPr sz="1400" b="1">
                <a:solidFill>
                  <a:srgbClr val="000000"/>
                </a:solidFill>
                <a:latin typeface="Times New Roman"/>
              </a:rPr>
              <a:t>Product Solution Overview:</a:t>
            </a:r>
          </a:p>
          <a:p>
            <a:pPr>
              <a:spcAft>
                <a:spcPts val="1400"/>
              </a:spcAft>
              <a:defRPr sz="1200" b="0">
                <a:solidFill>
                  <a:srgbClr val="000000"/>
                </a:solidFill>
                <a:latin typeface="Times New Roman"/>
              </a:defRPr>
            </a:pPr>
            <a:r>
              <a:rPr sz="1200" b="0">
                <a:solidFill>
                  <a:srgbClr val="000000"/>
                </a:solidFill>
                <a:latin typeface="Times New Roman"/>
              </a:rPr>
              <a:t>An ultra-low-latency inline security middleware that intercepts agent tool calls, replaces sensitive values with cryptographically salted reversible tokens, mathematically verifies zero residual leakage before transmission, and losslessly restores responses into agent memory.</a:t>
            </a:r>
          </a:p>
          <a:p>
            <a:pPr>
              <a:spcAft>
                <a:spcPts val="600"/>
              </a:spcAft>
              <a:defRPr sz="1400" b="1">
                <a:solidFill>
                  <a:srgbClr val="000000"/>
                </a:solidFill>
                <a:latin typeface="Times New Roman"/>
              </a:defRPr>
            </a:pPr>
            <a:r>
              <a:rPr sz="1400" b="1">
                <a:solidFill>
                  <a:srgbClr val="000000"/>
                </a:solidFill>
                <a:latin typeface="Times New Roman"/>
              </a:rPr>
              <a:t>Core Solution Capabilities:</a:t>
            </a:r>
          </a:p>
          <a:p>
            <a:pPr>
              <a:spcAft>
                <a:spcPts val="600"/>
              </a:spcAft>
            </a:pPr>
            <a:r>
              <a:rPr sz="1200" b="1">
                <a:solidFill>
                  <a:srgbClr val="000000"/>
                </a:solidFill>
                <a:latin typeface="Times New Roman"/>
              </a:rPr>
              <a:t>• Hybrid Multi-Modal Detection: </a:t>
            </a:r>
            <a:r>
              <a:rPr sz="1200" b="0">
                <a:solidFill>
                  <a:srgbClr val="000000"/>
                </a:solidFill>
                <a:latin typeface="Times New Roman"/>
              </a:rPr>
              <a:t>Combines RFC regex, mathematical checksums (Luhn Mod-10 for cards, UIDAI Verhoeff for Aadhaar), context-aware NLP heuristics, and Google Gemini fallback.</a:t>
            </a:r>
          </a:p>
          <a:p>
            <a:pPr>
              <a:spcAft>
                <a:spcPts val="600"/>
              </a:spcAft>
            </a:pPr>
            <a:r>
              <a:rPr sz="1200" b="1">
                <a:solidFill>
                  <a:srgbClr val="000000"/>
                </a:solidFill>
                <a:latin typeface="Times New Roman"/>
              </a:rPr>
              <a:t>• 3-Tier Security Policy Engine: </a:t>
            </a:r>
            <a:r>
              <a:rPr sz="1200" b="0">
                <a:solidFill>
                  <a:srgbClr val="000000"/>
                </a:solidFill>
                <a:latin typeface="Times New Roman"/>
              </a:rPr>
              <a:t>Enforces strict Zero-Trust rules: Tier 1 Credentials (PIN, CVV, OTP, Passwords) are hard-blocked; Tier 2 Personal Info is tokenized; Tier 3 Business data requires destination approval.</a:t>
            </a:r>
          </a:p>
          <a:p>
            <a:pPr>
              <a:spcAft>
                <a:spcPts val="600"/>
              </a:spcAft>
            </a:pPr>
            <a:r>
              <a:rPr sz="1200" b="1">
                <a:solidFill>
                  <a:srgbClr val="000000"/>
                </a:solidFill>
                <a:latin typeface="Times New Roman"/>
              </a:rPr>
              <a:t>• Cryptographically Salted Ephemeral Vault: </a:t>
            </a:r>
            <a:r>
              <a:rPr sz="1200" b="0">
                <a:solidFill>
                  <a:srgbClr val="000000"/>
                </a:solidFill>
                <a:latin typeface="Times New Roman"/>
              </a:rPr>
              <a:t>Maps sensitive values to opaque tokens ([TYPE_hash8]) using a 128-bit random salt and Layer 2 MAC address binding in non-persistent volatile memory.</a:t>
            </a:r>
          </a:p>
          <a:p>
            <a:pPr>
              <a:spcAft>
                <a:spcPts val="600"/>
              </a:spcAft>
            </a:pPr>
            <a:r>
              <a:rPr sz="1200" b="1">
                <a:solidFill>
                  <a:srgbClr val="000000"/>
                </a:solidFill>
                <a:latin typeface="Times New Roman"/>
              </a:rPr>
              <a:t>• Fail-Closed Leakage Verification: </a:t>
            </a:r>
            <a:r>
              <a:rPr sz="1200" b="0">
                <a:solidFill>
                  <a:srgbClr val="000000"/>
                </a:solidFill>
                <a:latin typeface="Times New Roman"/>
              </a:rPr>
              <a:t>Audits serialized wire packets against detected secrets, guaranteeing 0.0% residual cleartext before packets leave the local gateway.</a:t>
            </a:r>
          </a:p>
          <a:p>
            <a:pPr>
              <a:spcAft>
                <a:spcPts val="600"/>
              </a:spcAft>
            </a:pPr>
            <a:r>
              <a:rPr sz="1200" b="1">
                <a:solidFill>
                  <a:srgbClr val="000000"/>
                </a:solidFill>
                <a:latin typeface="Times New Roman"/>
              </a:rPr>
              <a:t>• Lossless Response Re-Hydration: </a:t>
            </a:r>
            <a:r>
              <a:rPr sz="1200" b="0">
                <a:solidFill>
                  <a:srgbClr val="000000"/>
                </a:solidFill>
                <a:latin typeface="Times New Roman"/>
              </a:rPr>
              <a:t>Transparently restores echoed tokens in tool responses back to original cleartext for the agent, then purges temporary vault RAM to zero bytes.</a:t>
            </a:r>
          </a:p>
          <a:p>
            <a:pPr>
              <a:spcAft>
                <a:spcPts val="600"/>
              </a:spcAft>
            </a:pPr>
            <a:r>
              <a:rPr sz="1200" b="1">
                <a:solidFill>
                  <a:srgbClr val="000000"/>
                </a:solidFill>
                <a:latin typeface="Times New Roman"/>
              </a:rPr>
              <a:t>• Verified Performance Metrics: </a:t>
            </a:r>
            <a:r>
              <a:rPr sz="1200" b="0">
                <a:solidFill>
                  <a:srgbClr val="000000"/>
                </a:solidFill>
                <a:latin typeface="Times New Roman"/>
              </a:rPr>
              <a:t>Sub-millisecond latency overhead (~1.2 ms), concurrent throughput exceeding 2,500 requests/sec, and 100% test pass rate across 333+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System Flow Design</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End-to-End Interception, Tokenization, and Restoration Lifecycle</a:t>
            </a:r>
          </a:p>
        </p:txBody>
      </p:sp>
      <p:pic>
        <p:nvPicPr>
          <p:cNvPr id="5" name="Picture 4" descr="system_flow_design_white.png"/>
          <p:cNvPicPr>
            <a:picLocks noChangeAspect="1"/>
          </p:cNvPicPr>
          <p:nvPr/>
        </p:nvPicPr>
        <p:blipFill>
          <a:blip r:embed="rId2"/>
          <a:stretch>
            <a:fillRect/>
          </a:stretch>
        </p:blipFill>
        <p:spPr>
          <a:xfrm>
            <a:off x="731520" y="1280160"/>
            <a:ext cx="10728655" cy="4251960"/>
          </a:xfrm>
          <a:prstGeom prst="rect">
            <a:avLst/>
          </a:prstGeom>
        </p:spPr>
      </p:pic>
      <p:sp>
        <p:nvSpPr>
          <p:cNvPr id="6" name="Rounded Rectangle 5"/>
          <p:cNvSpPr/>
          <p:nvPr/>
        </p:nvSpPr>
        <p:spPr>
          <a:xfrm>
            <a:off x="731520" y="5650992"/>
            <a:ext cx="10728655" cy="868680"/>
          </a:xfrm>
          <a:prstGeom prst="roundRect">
            <a:avLst/>
          </a:prstGeom>
          <a:solidFill>
            <a:srgbClr val="FAFAFA"/>
          </a:solidFill>
          <a:ln w="1270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spcAft>
                <a:spcPts val="300"/>
              </a:spcAft>
              <a:defRPr sz="1200" b="0">
                <a:solidFill>
                  <a:srgbClr val="000000"/>
                </a:solidFill>
                <a:latin typeface="Times New Roman"/>
              </a:defRPr>
            </a:pPr>
            <a:r>
              <a:rPr sz="1200" b="0">
                <a:solidFill>
                  <a:srgbClr val="000000"/>
                </a:solidFill>
                <a:latin typeface="Times New Roman"/>
              </a:rPr>
              <a:t>• Request Flow (Ingress): AI agent tool call -&gt; Adversarial normalization (\u200B stripped) -&gt; Hybrid detection matrix -&gt; 3-tier policy evaluation -&gt; Salted token vault -&gt; Wire leakage audit (0.0% residual leak).</a:t>
            </a:r>
          </a:p>
          <a:p>
            <a:pPr>
              <a:defRPr sz="1200" b="0">
                <a:solidFill>
                  <a:srgbClr val="000000"/>
                </a:solidFill>
                <a:latin typeface="Times New Roman"/>
              </a:defRPr>
            </a:pPr>
            <a:r>
              <a:rPr sz="1200" b="0">
                <a:solidFill>
                  <a:srgbClr val="000000"/>
                </a:solidFill>
                <a:latin typeface="Times New Roman"/>
              </a:rPr>
              <a:t>• Response Flow (Egress): Downstream tool executes safely with opaque tokens -&gt; Tool response intercepted -&gt; Re-hydrator restores cleartext into agent memory -&gt; Ephemeral vault memory purged to 0 bytes.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System Architecture Design</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Multi-Tier Defense-in-Depth Modular System Architecture</a:t>
            </a:r>
          </a:p>
        </p:txBody>
      </p:sp>
      <p:pic>
        <p:nvPicPr>
          <p:cNvPr id="5" name="Picture 4" descr="system_architecture_design_white.png"/>
          <p:cNvPicPr>
            <a:picLocks noChangeAspect="1"/>
          </p:cNvPicPr>
          <p:nvPr/>
        </p:nvPicPr>
        <p:blipFill>
          <a:blip r:embed="rId2"/>
          <a:stretch>
            <a:fillRect/>
          </a:stretch>
        </p:blipFill>
        <p:spPr>
          <a:xfrm>
            <a:off x="731520" y="1280160"/>
            <a:ext cx="10728655" cy="4251960"/>
          </a:xfrm>
          <a:prstGeom prst="rect">
            <a:avLst/>
          </a:prstGeom>
        </p:spPr>
      </p:pic>
      <p:sp>
        <p:nvSpPr>
          <p:cNvPr id="6" name="Rounded Rectangle 5"/>
          <p:cNvSpPr/>
          <p:nvPr/>
        </p:nvSpPr>
        <p:spPr>
          <a:xfrm>
            <a:off x="731520" y="5650992"/>
            <a:ext cx="10728655" cy="868680"/>
          </a:xfrm>
          <a:prstGeom prst="roundRect">
            <a:avLst/>
          </a:prstGeom>
          <a:solidFill>
            <a:srgbClr val="FAFAFA"/>
          </a:solidFill>
          <a:ln w="1270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spcAft>
                <a:spcPts val="300"/>
              </a:spcAft>
              <a:defRPr sz="1200" b="0">
                <a:solidFill>
                  <a:srgbClr val="000000"/>
                </a:solidFill>
                <a:latin typeface="Times New Roman"/>
              </a:defRPr>
            </a:pPr>
            <a:r>
              <a:rPr sz="1200" b="0">
                <a:solidFill>
                  <a:srgbClr val="000000"/>
                </a:solidFill>
                <a:latin typeface="Times New Roman"/>
              </a:rPr>
              <a:t>• Multi-Tier Modularity: Layer 1 Agent Ingress (@protect_tool / REST Gateway) -&gt; Layer 2 Evasion Defense &amp; Detection Matrix -&gt; Layer 3 Policy Engine &amp; Ephemeral Vault -&gt; Layer 4 Leakage Verifier &amp; Re-Hydrator.</a:t>
            </a:r>
          </a:p>
          <a:p>
            <a:pPr>
              <a:defRPr sz="1200" b="0">
                <a:solidFill>
                  <a:srgbClr val="000000"/>
                </a:solidFill>
                <a:latin typeface="Times New Roman"/>
              </a:defRPr>
            </a:pPr>
            <a:r>
              <a:rPr sz="1200" b="0">
                <a:solidFill>
                  <a:srgbClr val="000000"/>
                </a:solidFill>
                <a:latin typeface="Times New Roman"/>
              </a:rPr>
              <a:t>• Enterprise Security Controls: Hardware Layer 2 MAC address pinning, request-isolated volatile RAM vaults, fail-closed transmission block on leakage, and Zero-PII SHA-256 compliance audit ledger.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Users</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Target Users, Personas, and Enterprise Stakeholders</a:t>
            </a:r>
          </a:p>
        </p:txBody>
      </p:sp>
      <p:sp>
        <p:nvSpPr>
          <p:cNvPr id="5" name="Rounded Rectangle 4"/>
          <p:cNvSpPr/>
          <p:nvPr/>
        </p:nvSpPr>
        <p:spPr>
          <a:xfrm>
            <a:off x="731520" y="1325880"/>
            <a:ext cx="10728655" cy="5029200"/>
          </a:xfrm>
          <a:prstGeom prst="roundRect">
            <a:avLst/>
          </a:prstGeom>
          <a:solidFill>
            <a:srgbClr val="FAFAFA"/>
          </a:solidFill>
          <a:ln w="1524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spcAft>
                <a:spcPts val="1200"/>
              </a:spcAft>
              <a:defRPr sz="1400" b="1">
                <a:solidFill>
                  <a:srgbClr val="000000"/>
                </a:solidFill>
                <a:latin typeface="Times New Roman"/>
              </a:defRPr>
            </a:pPr>
            <a:r>
              <a:rPr sz="1400" b="1">
                <a:solidFill>
                  <a:srgbClr val="000000"/>
                </a:solidFill>
                <a:latin typeface="Times New Roman"/>
              </a:rPr>
              <a:t>Target User Groups and Beneficiaries:</a:t>
            </a:r>
          </a:p>
          <a:p>
            <a:pPr>
              <a:spcAft>
                <a:spcPts val="1200"/>
              </a:spcAft>
            </a:pPr>
            <a:r>
              <a:rPr sz="1200" b="1">
                <a:solidFill>
                  <a:srgbClr val="000000"/>
                </a:solidFill>
                <a:latin typeface="Times New Roman"/>
              </a:rPr>
              <a:t>1. AI Agent Developers &amp; Engineers: </a:t>
            </a:r>
            <a:r>
              <a:rPr sz="1200" b="0">
                <a:solidFill>
                  <a:srgbClr val="000000"/>
                </a:solidFill>
                <a:latin typeface="Times New Roman"/>
              </a:rPr>
              <a:t>Teams building autonomous tool-calling systems using LangChain, CrewAI, AutoGen, or custom LLM frameworks. They benefit from drop-in Python decorators (@protect_tool) and REST proxies requiring zero modification to existing tool logic, with virtually no latency penalty (~1.2 ms).</a:t>
            </a:r>
          </a:p>
          <a:p>
            <a:pPr>
              <a:spcAft>
                <a:spcPts val="1200"/>
              </a:spcAft>
            </a:pPr>
            <a:r>
              <a:rPr sz="1200" b="1">
                <a:solidFill>
                  <a:srgbClr val="000000"/>
                </a:solidFill>
                <a:latin typeface="Times New Roman"/>
              </a:rPr>
              <a:t>2. Enterprise CISOs &amp; SecOps Teams: </a:t>
            </a:r>
            <a:r>
              <a:rPr sz="1200" b="0">
                <a:solidFill>
                  <a:srgbClr val="000000"/>
                </a:solidFill>
                <a:latin typeface="Times New Roman"/>
              </a:rPr>
              <a:t>Security leaders seeking to enforce strict Zero-Trust security perimeters around corporate AI deployments. The system prevents prompt-injected data exfiltration, Unicode evasions, and API credential leakage through Layer 2 MAC address binding and fail-closed controls.</a:t>
            </a:r>
          </a:p>
          <a:p>
            <a:pPr>
              <a:spcAft>
                <a:spcPts val="1200"/>
              </a:spcAft>
            </a:pPr>
            <a:r>
              <a:rPr sz="1200" b="1">
                <a:solidFill>
                  <a:srgbClr val="000000"/>
                </a:solidFill>
                <a:latin typeface="Times New Roman"/>
              </a:rPr>
              <a:t>3. Compliance, Legal &amp; Risk Officers: </a:t>
            </a:r>
            <a:r>
              <a:rPr sz="1200" b="0">
                <a:solidFill>
                  <a:srgbClr val="000000"/>
                </a:solidFill>
                <a:latin typeface="Times New Roman"/>
              </a:rPr>
              <a:t>Corporate governance officers responsible for ensuring strict adherence to GDPR (Art. 6, 9, 32), HIPAA, PCI-DSS, and the India DPDP Act 2023. They gain mathematical proof of 0.0% data leakage along with tamper-evident SHA-256 audit ledgers containing zero cleartext PII.</a:t>
            </a:r>
          </a:p>
          <a:p>
            <a:pPr>
              <a:spcAft>
                <a:spcPts val="1200"/>
              </a:spcAft>
            </a:pPr>
            <a:r>
              <a:rPr sz="1200" b="1">
                <a:solidFill>
                  <a:srgbClr val="000000"/>
                </a:solidFill>
                <a:latin typeface="Times New Roman"/>
              </a:rPr>
              <a:t>4. FinTech, Healthcare &amp; Public Sector SaaS: </a:t>
            </a:r>
            <a:r>
              <a:rPr sz="1200" b="0">
                <a:solidFill>
                  <a:srgbClr val="000000"/>
                </a:solidFill>
                <a:latin typeface="Times New Roman"/>
              </a:rPr>
              <a:t>Enterprises automating loan approvals, insurance claim triage, customer onboarding, and telehealth consultations. The product ensures sensitive financial credentials (PIN, CVV), Indian KYC records (PAN, Aadhaar), and medical data are never leaked to third-party APIs.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Tech Stacks Used</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Core Technologies, Algorithms, and Architectural Frameworks</a:t>
            </a:r>
          </a:p>
        </p:txBody>
      </p:sp>
      <p:sp>
        <p:nvSpPr>
          <p:cNvPr id="5" name="Rounded Rectangle 4"/>
          <p:cNvSpPr/>
          <p:nvPr/>
        </p:nvSpPr>
        <p:spPr>
          <a:xfrm>
            <a:off x="731520" y="1325880"/>
            <a:ext cx="10728655" cy="5029200"/>
          </a:xfrm>
          <a:prstGeom prst="roundRect">
            <a:avLst/>
          </a:prstGeom>
          <a:solidFill>
            <a:srgbClr val="FAFAFA"/>
          </a:solidFill>
          <a:ln w="1524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spcAft>
                <a:spcPts val="1000"/>
              </a:spcAft>
              <a:defRPr sz="1400" b="1">
                <a:solidFill>
                  <a:srgbClr val="000000"/>
                </a:solidFill>
                <a:latin typeface="Times New Roman"/>
              </a:defRPr>
            </a:pPr>
            <a:r>
              <a:rPr sz="1400" b="1">
                <a:solidFill>
                  <a:srgbClr val="000000"/>
                </a:solidFill>
                <a:latin typeface="Times New Roman"/>
              </a:rPr>
              <a:t>Architectural Technology Stack Breakdown:</a:t>
            </a:r>
          </a:p>
          <a:p>
            <a:pPr>
              <a:spcAft>
                <a:spcPts val="800"/>
              </a:spcAft>
            </a:pPr>
            <a:r>
              <a:rPr sz="1200" b="1">
                <a:solidFill>
                  <a:srgbClr val="000000"/>
                </a:solidFill>
                <a:latin typeface="Times New Roman"/>
              </a:rPr>
              <a:t>• Core Runtime &amp; Concurrency: </a:t>
            </a:r>
            <a:r>
              <a:rPr sz="1200" b="0">
                <a:solidFill>
                  <a:srgbClr val="000000"/>
                </a:solidFill>
                <a:latin typeface="Times New Roman"/>
              </a:rPr>
              <a:t>Python 3.11+, ThreadPoolExecutor for concurrent batch execution (&gt;2,500 requests/sec), recursive JSON data tree parser preserving primitive types.</a:t>
            </a:r>
          </a:p>
          <a:p>
            <a:pPr>
              <a:spcAft>
                <a:spcPts val="800"/>
              </a:spcAft>
            </a:pPr>
            <a:r>
              <a:rPr sz="1200" b="1">
                <a:solidFill>
                  <a:srgbClr val="000000"/>
                </a:solidFill>
                <a:latin typeface="Times New Roman"/>
              </a:rPr>
              <a:t>• Algorithmic Checksums &amp; Validation: </a:t>
            </a:r>
            <a:r>
              <a:rPr sz="1200" b="0">
                <a:solidFill>
                  <a:srgbClr val="000000"/>
                </a:solidFill>
                <a:latin typeface="Times New Roman"/>
              </a:rPr>
              <a:t>Luhn Mod-10 checksum algorithm (Credit Card validation), UIDAI Verhoeff checksum algorithm (12-digit Indian Aadhaar validation), RFC-compliant regex pattern matchers.</a:t>
            </a:r>
          </a:p>
          <a:p>
            <a:pPr>
              <a:spcAft>
                <a:spcPts val="800"/>
              </a:spcAft>
            </a:pPr>
            <a:r>
              <a:rPr sz="1200" b="1">
                <a:solidFill>
                  <a:srgbClr val="000000"/>
                </a:solidFill>
                <a:latin typeface="Times New Roman"/>
              </a:rPr>
              <a:t>• AI &amp; Semantic NLP: </a:t>
            </a:r>
            <a:r>
              <a:rPr sz="1200" b="0">
                <a:solidFill>
                  <a:srgbClr val="000000"/>
                </a:solidFill>
                <a:latin typeface="Times New Roman"/>
              </a:rPr>
              <a:t>Context-aware semantic heuristics (disambiguating PIN vs calendar year, suppressing scheduling stopwords like 'at 3pm'), Google Gemini Free-Tier API for semantic intent fallback.</a:t>
            </a:r>
          </a:p>
          <a:p>
            <a:pPr>
              <a:spcAft>
                <a:spcPts val="800"/>
              </a:spcAft>
            </a:pPr>
            <a:r>
              <a:rPr sz="1200" b="1">
                <a:solidFill>
                  <a:srgbClr val="000000"/>
                </a:solidFill>
                <a:latin typeface="Times New Roman"/>
              </a:rPr>
              <a:t>• Cryptography &amp; Network Security: </a:t>
            </a:r>
            <a:r>
              <a:rPr sz="1200" b="0">
                <a:solidFill>
                  <a:srgbClr val="000000"/>
                </a:solidFill>
                <a:latin typeface="Times New Roman"/>
              </a:rPr>
              <a:t>128-bit cryptographic random salting (os.urandom), HMAC/SHA-256 token hashing, Hardware Layer 2 MAC address pinning, IEEE 802.1AE MACsec compatibility.</a:t>
            </a:r>
          </a:p>
          <a:p>
            <a:pPr>
              <a:spcAft>
                <a:spcPts val="800"/>
              </a:spcAft>
            </a:pPr>
            <a:r>
              <a:rPr sz="1200" b="1">
                <a:solidFill>
                  <a:srgbClr val="000000"/>
                </a:solidFill>
                <a:latin typeface="Times New Roman"/>
              </a:rPr>
              <a:t>• Interfaces &amp; Observability: </a:t>
            </a:r>
            <a:r>
              <a:rPr sz="1200" b="0">
                <a:solidFill>
                  <a:srgbClr val="000000"/>
                </a:solidFill>
                <a:latin typeface="Times New Roman"/>
              </a:rPr>
              <a:t>Flask REST Microservice API (/v1/intercept, /v1/restore), Streamlit interactive web dashboard, @protect_tool Python SDK decorator, Zero-PII SHA-256 audit ledger.</a:t>
            </a:r>
          </a:p>
          <a:p>
            <a:pPr>
              <a:spcAft>
                <a:spcPts val="800"/>
              </a:spcAft>
            </a:pPr>
            <a:r>
              <a:rPr sz="1200" b="1">
                <a:solidFill>
                  <a:srgbClr val="000000"/>
                </a:solidFill>
                <a:latin typeface="Times New Roman"/>
              </a:rPr>
              <a:t>• Testing &amp; Verification Battery: </a:t>
            </a:r>
            <a:r>
              <a:rPr sz="1200" b="0">
                <a:solidFill>
                  <a:srgbClr val="000000"/>
                </a:solidFill>
                <a:latin typeface="Times New Roman"/>
              </a:rPr>
              <a:t>PyTest automated test suite with 333+ unit, synthetic, and integration tests covering adversarial evasions, concurrent load, and edge cases (100% pass 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