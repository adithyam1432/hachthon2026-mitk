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274320"/>
          </a:xfrm>
          <a:prstGeom prst="rect">
            <a:avLst/>
          </a:prstGeom>
          <a:noFill/>
        </p:spPr>
        <p:txBody>
          <a:bodyPr wrap="square" lIns="0" tIns="0" rIns="0" bIns="0">
            <a:spAutoFit/>
          </a:bodyPr>
          <a:lstStyle/>
          <a:p>
            <a:pPr>
              <a:defRPr sz="950" b="1">
                <a:solidFill>
                  <a:srgbClr val="38BDF8"/>
                </a:solidFill>
                <a:latin typeface="Segoe UI"/>
              </a:defRPr>
            </a:pPr>
            <a:r>
              <a:t>COMMVAULT CYBERSECURITY CHALLENGE (PS-03)  •  PAGE 1 OF 6</a:t>
            </a:r>
          </a:p>
        </p:txBody>
      </p:sp>
      <p:sp>
        <p:nvSpPr>
          <p:cNvPr id="4" name="TextBox 3"/>
          <p:cNvSpPr txBox="1"/>
          <p:nvPr/>
        </p:nvSpPr>
        <p:spPr>
          <a:xfrm>
            <a:off x="731520" y="658368"/>
            <a:ext cx="10728655" cy="502920"/>
          </a:xfrm>
          <a:prstGeom prst="rect">
            <a:avLst/>
          </a:prstGeom>
          <a:noFill/>
        </p:spPr>
        <p:txBody>
          <a:bodyPr wrap="square" lIns="0" tIns="0" rIns="0" bIns="0">
            <a:spAutoFit/>
          </a:bodyPr>
          <a:lstStyle/>
          <a:p>
            <a:pPr>
              <a:defRPr sz="2200" b="1">
                <a:solidFill>
                  <a:srgbClr val="F8FAFC"/>
                </a:solidFill>
                <a:latin typeface="Segoe UI"/>
              </a:defRPr>
            </a:pPr>
            <a:r>
              <a:t>Problem Statement &amp; Critical Pain Points</a:t>
            </a:r>
          </a:p>
        </p:txBody>
      </p:sp>
      <p:sp>
        <p:nvSpPr>
          <p:cNvPr id="5" name="TextBox 4"/>
          <p:cNvSpPr txBox="1"/>
          <p:nvPr/>
        </p:nvSpPr>
        <p:spPr>
          <a:xfrm>
            <a:off x="731520" y="1188720"/>
            <a:ext cx="10728655" cy="365760"/>
          </a:xfrm>
          <a:prstGeom prst="rect">
            <a:avLst/>
          </a:prstGeom>
          <a:noFill/>
        </p:spPr>
        <p:txBody>
          <a:bodyPr wrap="square" lIns="0" tIns="0" rIns="0" bIns="0">
            <a:spAutoFit/>
          </a:bodyPr>
          <a:lstStyle/>
          <a:p>
            <a:pPr>
              <a:defRPr sz="1100">
                <a:solidFill>
                  <a:srgbClr val="94A3B8"/>
                </a:solidFill>
                <a:latin typeface="Segoe UI"/>
              </a:defRPr>
            </a:pPr>
            <a:r>
              <a:t>The Uncontrolled Privacy Crisis: Autonomous AI Agents Exposing Enterprise Data During External Tool Calls</a:t>
            </a:r>
          </a:p>
        </p:txBody>
      </p:sp>
      <p:sp>
        <p:nvSpPr>
          <p:cNvPr id="6" name="Rounded Rectangle 5"/>
          <p:cNvSpPr/>
          <p:nvPr/>
        </p:nvSpPr>
        <p:spPr>
          <a:xfrm>
            <a:off x="731520" y="1645920"/>
            <a:ext cx="10728655" cy="1005840"/>
          </a:xfrm>
          <a:prstGeom prst="roundRect">
            <a:avLst/>
          </a:prstGeom>
          <a:solidFill>
            <a:srgbClr val="0F172A"/>
          </a:solidFill>
          <a:ln w="1905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lIns="274320"/>
          <a:lstStyle/>
          <a:p>
            <a:pPr algn="ctr">
              <a:defRPr sz="1000" b="1">
                <a:solidFill>
                  <a:srgbClr val="F43F5E"/>
                </a:solidFill>
                <a:latin typeface="Segoe UI"/>
              </a:defRPr>
            </a:pPr>
            <a:r>
              <a:t>CORE PROBLEM STATEMENT:</a:t>
            </a:r>
          </a:p>
          <a:p>
            <a:pPr>
              <a:defRPr sz="1100">
                <a:solidFill>
                  <a:srgbClr val="F8FAFC"/>
                </a:solidFill>
                <a:latin typeface="Segoe UI"/>
              </a:defRPr>
            </a:pPr>
            <a:r>
              <a:t>Autonomous AI agents frequently execute third-party API tool calls (Email, CRM, Payment Gateways, Cloud DBs) to perform user tasks. In doing so, agents routinely pass raw, unredacted Personally Identifiable Information (PII), credentials, and financial identifiers directly over the wire, resulting in massive compliance breaches and irreversible data leaks.</a:t>
            </a:r>
          </a:p>
        </p:txBody>
      </p:sp>
      <p:sp>
        <p:nvSpPr>
          <p:cNvPr id="7" name="Rounded Rectangle 6"/>
          <p:cNvSpPr/>
          <p:nvPr/>
        </p:nvSpPr>
        <p:spPr>
          <a:xfrm>
            <a:off x="731520" y="2834640"/>
            <a:ext cx="2542032" cy="3657600"/>
          </a:xfrm>
          <a:prstGeom prst="roundRect">
            <a:avLst/>
          </a:prstGeom>
          <a:solidFill>
            <a:srgbClr val="1E293B"/>
          </a:solidFill>
          <a:ln w="1905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900" b="1">
                <a:solidFill>
                  <a:srgbClr val="F43F5E"/>
                </a:solidFill>
                <a:latin typeface="Segoe UI"/>
              </a:defRPr>
            </a:pPr>
            <a:r>
              <a:t>PAIN POINT 1</a:t>
            </a:r>
          </a:p>
          <a:p>
            <a:pPr>
              <a:defRPr sz="1300" b="1">
                <a:solidFill>
                  <a:srgbClr val="F8FAFC"/>
                </a:solidFill>
                <a:latin typeface="Segoe UI"/>
              </a:defRPr>
            </a:pPr>
            <a:r>
              <a:t>Unchecked Tool-Call Leakage</a:t>
            </a:r>
          </a:p>
          <a:p>
            <a:pPr>
              <a:spcAft>
                <a:spcPts val="1000"/>
              </a:spcAft>
              <a:defRPr sz="950">
                <a:solidFill>
                  <a:srgbClr val="F43F5E"/>
                </a:solidFill>
                <a:latin typeface="Segoe UI"/>
              </a:defRPr>
            </a:pPr>
            <a:r>
              <a:t>Raw PII Injection in JSON Arguments</a:t>
            </a:r>
          </a:p>
          <a:p>
            <a:pPr>
              <a:spcAft>
                <a:spcPts val="400"/>
              </a:spcAft>
              <a:defRPr sz="900">
                <a:solidFill>
                  <a:srgbClr val="94A3B8"/>
                </a:solidFill>
                <a:latin typeface="Segoe UI"/>
              </a:defRPr>
            </a:pPr>
            <a:r>
              <a:t>• LLMs inject full customer names, SSNs, credit cards &amp; phone numbers into API tool calls.</a:t>
            </a:r>
          </a:p>
          <a:p>
            <a:pPr>
              <a:spcAft>
                <a:spcPts val="400"/>
              </a:spcAft>
              <a:defRPr sz="900">
                <a:solidFill>
                  <a:srgbClr val="94A3B8"/>
                </a:solidFill>
                <a:latin typeface="Segoe UI"/>
              </a:defRPr>
            </a:pPr>
            <a:r>
              <a:t>• Third-party APIs, SaaS vendors &amp; external logs permanently store plain-text personal data.</a:t>
            </a:r>
          </a:p>
          <a:p>
            <a:pPr>
              <a:spcAft>
                <a:spcPts val="400"/>
              </a:spcAft>
              <a:defRPr sz="900">
                <a:solidFill>
                  <a:srgbClr val="94A3B8"/>
                </a:solidFill>
                <a:latin typeface="Segoe UI"/>
              </a:defRPr>
            </a:pPr>
            <a:r>
              <a:t>• Once transmitted outside your trust boundary, sensitive data is permanently compromised.</a:t>
            </a:r>
          </a:p>
        </p:txBody>
      </p:sp>
      <p:sp>
        <p:nvSpPr>
          <p:cNvPr id="8" name="Rounded Rectangle 7"/>
          <p:cNvSpPr/>
          <p:nvPr/>
        </p:nvSpPr>
        <p:spPr>
          <a:xfrm>
            <a:off x="3456432" y="2834640"/>
            <a:ext cx="2542032" cy="365760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900" b="1">
                <a:solidFill>
                  <a:srgbClr val="F59E0B"/>
                </a:solidFill>
                <a:latin typeface="Segoe UI"/>
              </a:defRPr>
            </a:pPr>
            <a:r>
              <a:t>PAIN POINT 2</a:t>
            </a:r>
          </a:p>
          <a:p>
            <a:pPr>
              <a:defRPr sz="1300" b="1">
                <a:solidFill>
                  <a:srgbClr val="F8FAFC"/>
                </a:solidFill>
                <a:latin typeface="Segoe UI"/>
              </a:defRPr>
            </a:pPr>
            <a:r>
              <a:t>Adversarial &amp; Evasion Attacks</a:t>
            </a:r>
          </a:p>
          <a:p>
            <a:pPr>
              <a:spcAft>
                <a:spcPts val="1000"/>
              </a:spcAft>
              <a:defRPr sz="950">
                <a:solidFill>
                  <a:srgbClr val="F59E0B"/>
                </a:solidFill>
                <a:latin typeface="Segoe UI"/>
              </a:defRPr>
            </a:pPr>
            <a:r>
              <a:t>Bypassing Traditional Rule Matchers</a:t>
            </a:r>
          </a:p>
          <a:p>
            <a:pPr>
              <a:spcAft>
                <a:spcPts val="400"/>
              </a:spcAft>
              <a:defRPr sz="900">
                <a:solidFill>
                  <a:srgbClr val="94A3B8"/>
                </a:solidFill>
                <a:latin typeface="Segoe UI"/>
              </a:defRPr>
            </a:pPr>
            <a:r>
              <a:t>• Attackers &amp; prompt injections disguise PII via invisible zero-width Unicode (\u200B).</a:t>
            </a:r>
          </a:p>
          <a:p>
            <a:pPr>
              <a:spcAft>
                <a:spcPts val="400"/>
              </a:spcAft>
              <a:defRPr sz="900">
                <a:solidFill>
                  <a:srgbClr val="94A3B8"/>
                </a:solidFill>
                <a:latin typeface="Segoe UI"/>
              </a:defRPr>
            </a:pPr>
            <a:r>
              <a:t>• Base64-smuggled strings and casing variations easily fool naive keyword/regex filters.</a:t>
            </a:r>
          </a:p>
          <a:p>
            <a:pPr>
              <a:spcAft>
                <a:spcPts val="400"/>
              </a:spcAft>
              <a:defRPr sz="900">
                <a:solidFill>
                  <a:srgbClr val="94A3B8"/>
                </a:solidFill>
                <a:latin typeface="Segoe UI"/>
              </a:defRPr>
            </a:pPr>
            <a:r>
              <a:t>• Traditional DLP software fails on free-form conversational context and agent prompts.</a:t>
            </a:r>
          </a:p>
        </p:txBody>
      </p:sp>
      <p:sp>
        <p:nvSpPr>
          <p:cNvPr id="9" name="Rounded Rectangle 8"/>
          <p:cNvSpPr/>
          <p:nvPr/>
        </p:nvSpPr>
        <p:spPr>
          <a:xfrm>
            <a:off x="6181344" y="2834640"/>
            <a:ext cx="2542032" cy="3657600"/>
          </a:xfrm>
          <a:prstGeom prst="roundRect">
            <a:avLst/>
          </a:prstGeom>
          <a:solidFill>
            <a:srgbClr val="1E293B"/>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900" b="1">
                <a:solidFill>
                  <a:srgbClr val="A855F7"/>
                </a:solidFill>
                <a:latin typeface="Segoe UI"/>
              </a:defRPr>
            </a:pPr>
            <a:r>
              <a:t>PAIN POINT 3</a:t>
            </a:r>
          </a:p>
          <a:p>
            <a:pPr>
              <a:defRPr sz="1300" b="1">
                <a:solidFill>
                  <a:srgbClr val="F8FAFC"/>
                </a:solidFill>
                <a:latin typeface="Segoe UI"/>
              </a:defRPr>
            </a:pPr>
            <a:r>
              <a:t>High Latency &amp; Broken Workflows</a:t>
            </a:r>
          </a:p>
          <a:p>
            <a:pPr>
              <a:spcAft>
                <a:spcPts val="1000"/>
              </a:spcAft>
              <a:defRPr sz="950">
                <a:solidFill>
                  <a:srgbClr val="A855F7"/>
                </a:solidFill>
                <a:latin typeface="Segoe UI"/>
              </a:defRPr>
            </a:pPr>
            <a:r>
              <a:t>Heavy Cloud DLP Ruins AI Agent Speed</a:t>
            </a:r>
          </a:p>
          <a:p>
            <a:pPr>
              <a:spcAft>
                <a:spcPts val="400"/>
              </a:spcAft>
              <a:defRPr sz="900">
                <a:solidFill>
                  <a:srgbClr val="94A3B8"/>
                </a:solidFill>
                <a:latin typeface="Segoe UI"/>
              </a:defRPr>
            </a:pPr>
            <a:r>
              <a:t>• Traditional cloud security gateways add 200–500 ms latency to real-time agent execution.</a:t>
            </a:r>
          </a:p>
          <a:p>
            <a:pPr>
              <a:spcAft>
                <a:spcPts val="400"/>
              </a:spcAft>
              <a:defRPr sz="900">
                <a:solidFill>
                  <a:srgbClr val="94A3B8"/>
                </a:solidFill>
                <a:latin typeface="Segoe UI"/>
              </a:defRPr>
            </a:pPr>
            <a:r>
              <a:t>• Irreversible redaction (replacing values with [REDACTED]) breaks downstream tool execution.</a:t>
            </a:r>
          </a:p>
          <a:p>
            <a:pPr>
              <a:spcAft>
                <a:spcPts val="400"/>
              </a:spcAft>
              <a:defRPr sz="900">
                <a:solidFill>
                  <a:srgbClr val="94A3B8"/>
                </a:solidFill>
                <a:latin typeface="Segoe UI"/>
              </a:defRPr>
            </a:pPr>
            <a:r>
              <a:t>• Agents lose the context needed to process external tool responses and finish tasks.</a:t>
            </a:r>
          </a:p>
        </p:txBody>
      </p:sp>
      <p:sp>
        <p:nvSpPr>
          <p:cNvPr id="10" name="Rounded Rectangle 9"/>
          <p:cNvSpPr/>
          <p:nvPr/>
        </p:nvSpPr>
        <p:spPr>
          <a:xfrm>
            <a:off x="8906256" y="2834640"/>
            <a:ext cx="2542032" cy="365760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900" b="1">
                <a:solidFill>
                  <a:srgbClr val="38BDF8"/>
                </a:solidFill>
                <a:latin typeface="Segoe UI"/>
              </a:defRPr>
            </a:pPr>
            <a:r>
              <a:t>PAIN POINT 4</a:t>
            </a:r>
          </a:p>
          <a:p>
            <a:pPr>
              <a:defRPr sz="1300" b="1">
                <a:solidFill>
                  <a:srgbClr val="F8FAFC"/>
                </a:solidFill>
                <a:latin typeface="Segoe UI"/>
              </a:defRPr>
            </a:pPr>
            <a:r>
              <a:t>Severe Regulatory Penalties</a:t>
            </a:r>
          </a:p>
          <a:p>
            <a:pPr>
              <a:spcAft>
                <a:spcPts val="1000"/>
              </a:spcAft>
              <a:defRPr sz="950">
                <a:solidFill>
                  <a:srgbClr val="38BDF8"/>
                </a:solidFill>
                <a:latin typeface="Segoe UI"/>
              </a:defRPr>
            </a:pPr>
            <a:r>
              <a:t>GDPR, HIPAA, DPDP &amp; PCI-DSS Liabilities</a:t>
            </a:r>
          </a:p>
          <a:p>
            <a:pPr>
              <a:spcAft>
                <a:spcPts val="400"/>
              </a:spcAft>
              <a:defRPr sz="900">
                <a:solidFill>
                  <a:srgbClr val="94A3B8"/>
                </a:solidFill>
                <a:latin typeface="Segoe UI"/>
              </a:defRPr>
            </a:pPr>
            <a:r>
              <a:t>• Exposing cardholder data or patient records violates PCI-DSS and HIPAA regulations.</a:t>
            </a:r>
          </a:p>
          <a:p>
            <a:pPr>
              <a:spcAft>
                <a:spcPts val="400"/>
              </a:spcAft>
              <a:defRPr sz="900">
                <a:solidFill>
                  <a:srgbClr val="94A3B8"/>
                </a:solidFill>
                <a:latin typeface="Segoe UI"/>
              </a:defRPr>
            </a:pPr>
            <a:r>
              <a:t>• GDPR (Art. 6/9/32) and India DPDP Act 2023 impose massive multi-million dollar fines.</a:t>
            </a:r>
          </a:p>
          <a:p>
            <a:pPr>
              <a:spcAft>
                <a:spcPts val="400"/>
              </a:spcAft>
              <a:defRPr sz="900">
                <a:solidFill>
                  <a:srgbClr val="94A3B8"/>
                </a:solidFill>
                <a:latin typeface="Segoe UI"/>
              </a:defRPr>
            </a:pPr>
            <a:r>
              <a:t>• Lack of cryptographically verifiable audit logs leaves enterprises legally defenseless.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274320"/>
          </a:xfrm>
          <a:prstGeom prst="rect">
            <a:avLst/>
          </a:prstGeom>
          <a:noFill/>
        </p:spPr>
        <p:txBody>
          <a:bodyPr wrap="square" lIns="0" tIns="0" rIns="0" bIns="0">
            <a:spAutoFit/>
          </a:bodyPr>
          <a:lstStyle/>
          <a:p>
            <a:pPr>
              <a:defRPr sz="950" b="1">
                <a:solidFill>
                  <a:srgbClr val="38BDF8"/>
                </a:solidFill>
                <a:latin typeface="Segoe UI"/>
              </a:defRPr>
            </a:pPr>
            <a:r>
              <a:t>OUR PRODUCT SOLUTION  •  PAGE 2 OF 6</a:t>
            </a:r>
          </a:p>
        </p:txBody>
      </p:sp>
      <p:sp>
        <p:nvSpPr>
          <p:cNvPr id="4" name="TextBox 3"/>
          <p:cNvSpPr txBox="1"/>
          <p:nvPr/>
        </p:nvSpPr>
        <p:spPr>
          <a:xfrm>
            <a:off x="731520" y="658368"/>
            <a:ext cx="10728655" cy="502920"/>
          </a:xfrm>
          <a:prstGeom prst="rect">
            <a:avLst/>
          </a:prstGeom>
          <a:noFill/>
        </p:spPr>
        <p:txBody>
          <a:bodyPr wrap="square" lIns="0" tIns="0" rIns="0" bIns="0">
            <a:spAutoFit/>
          </a:bodyPr>
          <a:lstStyle/>
          <a:p>
            <a:pPr>
              <a:defRPr sz="2200" b="1">
                <a:solidFill>
                  <a:srgbClr val="F8FAFC"/>
                </a:solidFill>
                <a:latin typeface="Segoe UI"/>
              </a:defRPr>
            </a:pPr>
            <a:r>
              <a:t>PII Firewall for AI Agents: Zero-Trust Privacy Middleware</a:t>
            </a:r>
          </a:p>
        </p:txBody>
      </p:sp>
      <p:sp>
        <p:nvSpPr>
          <p:cNvPr id="5" name="TextBox 4"/>
          <p:cNvSpPr txBox="1"/>
          <p:nvPr/>
        </p:nvSpPr>
        <p:spPr>
          <a:xfrm>
            <a:off x="731520" y="1188720"/>
            <a:ext cx="10728655" cy="365760"/>
          </a:xfrm>
          <a:prstGeom prst="rect">
            <a:avLst/>
          </a:prstGeom>
          <a:noFill/>
        </p:spPr>
        <p:txBody>
          <a:bodyPr wrap="square" lIns="0" tIns="0" rIns="0" bIns="0">
            <a:spAutoFit/>
          </a:bodyPr>
          <a:lstStyle/>
          <a:p>
            <a:pPr>
              <a:defRPr sz="1100">
                <a:solidFill>
                  <a:srgbClr val="94A3B8"/>
                </a:solidFill>
                <a:latin typeface="Segoe UI"/>
              </a:defRPr>
            </a:pPr>
            <a:r>
              <a:t>Inline Interception, Reversible Salted Tokenization, Zero-Leakage Audit, and Lossless Re-Hydration</a:t>
            </a:r>
          </a:p>
        </p:txBody>
      </p:sp>
      <p:sp>
        <p:nvSpPr>
          <p:cNvPr id="6" name="Rounded Rectangle 5"/>
          <p:cNvSpPr/>
          <p:nvPr/>
        </p:nvSpPr>
        <p:spPr>
          <a:xfrm>
            <a:off x="731520" y="1645920"/>
            <a:ext cx="6858000" cy="484632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spcAft>
                <a:spcPts val="800"/>
              </a:spcAft>
              <a:defRPr sz="1400" b="1">
                <a:solidFill>
                  <a:srgbClr val="38BDF8"/>
                </a:solidFill>
                <a:latin typeface="Segoe UI"/>
              </a:defRPr>
            </a:pPr>
            <a:r>
              <a:t>HOW OUR PRODUCT SOLVES THE PROBLEM</a:t>
            </a:r>
          </a:p>
          <a:p>
            <a:pPr>
              <a:defRPr sz="1100" b="1">
                <a:solidFill>
                  <a:srgbClr val="F8FAFC"/>
                </a:solidFill>
                <a:latin typeface="Segoe UI"/>
              </a:defRPr>
            </a:pPr>
            <a:r>
              <a:t>1. Inline Interception Gateway</a:t>
            </a:r>
          </a:p>
          <a:p>
            <a:pPr>
              <a:spcAft>
                <a:spcPts val="600"/>
              </a:spcAft>
              <a:defRPr sz="950">
                <a:solidFill>
                  <a:srgbClr val="94A3B8"/>
                </a:solidFill>
                <a:latin typeface="Segoe UI"/>
              </a:defRPr>
            </a:pPr>
            <a:r>
              <a:t>Sits directly between AI agents and external tools via a Python decorator (@protect_tool) or high-throughput REST proxy. Inspects structured JSON trees and free-text prompts transparently without modifying tool code.</a:t>
            </a:r>
          </a:p>
          <a:p>
            <a:pPr>
              <a:defRPr sz="1100" b="1">
                <a:solidFill>
                  <a:srgbClr val="F8FAFC"/>
                </a:solidFill>
                <a:latin typeface="Segoe UI"/>
              </a:defRPr>
            </a:pPr>
            <a:r>
              <a:t>2. Hybrid Multi-Engine Detection Matrix</a:t>
            </a:r>
          </a:p>
          <a:p>
            <a:pPr>
              <a:spcAft>
                <a:spcPts val="600"/>
              </a:spcAft>
              <a:defRPr sz="950">
                <a:solidFill>
                  <a:srgbClr val="94A3B8"/>
                </a:solidFill>
                <a:latin typeface="Segoe UI"/>
              </a:defRPr>
            </a:pPr>
            <a:r>
              <a:t>Combines RFC regex patterns, mathematical checksum algorithms (Luhn Mod-10 for Credit Cards, UIDAI Verhoeff for Aadhaar), Context-Aware NLP (disambiguating PINs vs years, suppressing stopwords like 'at 3pm'), and Google Gemini semantic intent fallback.</a:t>
            </a:r>
          </a:p>
          <a:p>
            <a:pPr>
              <a:defRPr sz="1100" b="1">
                <a:solidFill>
                  <a:srgbClr val="F8FAFC"/>
                </a:solidFill>
                <a:latin typeface="Segoe UI"/>
              </a:defRPr>
            </a:pPr>
            <a:r>
              <a:t>3. 3-Tier Policy Engine &amp; Reversible Token Vault</a:t>
            </a:r>
          </a:p>
          <a:p>
            <a:pPr>
              <a:spcAft>
                <a:spcPts val="600"/>
              </a:spcAft>
              <a:defRPr sz="950">
                <a:solidFill>
                  <a:srgbClr val="94A3B8"/>
                </a:solidFill>
                <a:latin typeface="Segoe UI"/>
              </a:defRPr>
            </a:pPr>
            <a:r>
              <a:t>Enforces mandatory Zero-Trust rules: Tier 1 Credentials (PIN, CVV, OTP, Passwords) are HARD-BLOCKED (0 wire packets sent). Tier 2 Personal Info is replaced with opaque tokens (⟦TYPE_hash8⟧) salted with 128-bit random crypto salts and bound to Layer 2 MAC addresses.</a:t>
            </a:r>
          </a:p>
          <a:p>
            <a:pPr>
              <a:defRPr sz="1100" b="1">
                <a:solidFill>
                  <a:srgbClr val="F8FAFC"/>
                </a:solidFill>
                <a:latin typeface="Segoe UI"/>
              </a:defRPr>
            </a:pPr>
            <a:r>
              <a:t>4. Fail-Closed Post-Sanitization Leakage Verifier</a:t>
            </a:r>
          </a:p>
          <a:p>
            <a:pPr>
              <a:spcAft>
                <a:spcPts val="600"/>
              </a:spcAft>
              <a:defRPr sz="950">
                <a:solidFill>
                  <a:srgbClr val="94A3B8"/>
                </a:solidFill>
                <a:latin typeface="Segoe UI"/>
              </a:defRPr>
            </a:pPr>
            <a:r>
              <a:t>Before packets touch external network wire, performs a full serialized byte-level scan against all detected raw secrets. If any residual PII substring exists, transmission is immediately aborted with a PIILeakageDetectedError.</a:t>
            </a:r>
          </a:p>
          <a:p>
            <a:pPr>
              <a:defRPr sz="1100" b="1">
                <a:solidFill>
                  <a:srgbClr val="F8FAFC"/>
                </a:solidFill>
                <a:latin typeface="Segoe UI"/>
              </a:defRPr>
            </a:pPr>
            <a:r>
              <a:t>5. Lossless Response Re-Hydration &amp; Ephemeral Memory Purge</a:t>
            </a:r>
          </a:p>
          <a:p>
            <a:pPr>
              <a:spcAft>
                <a:spcPts val="600"/>
              </a:spcAft>
              <a:defRPr sz="950">
                <a:solidFill>
                  <a:srgbClr val="94A3B8"/>
                </a:solidFill>
                <a:latin typeface="Segoe UI"/>
              </a:defRPr>
            </a:pPr>
            <a:r>
              <a:t>When external tools return responses echoing tokens, the firewall swaps tokens back to original values in agent memory. The ephemeral vault RAM is immediately wiped (0 residual bytes), ensuring perfect context retention with zero persistence.</a:t>
            </a:r>
          </a:p>
        </p:txBody>
      </p:sp>
      <p:sp>
        <p:nvSpPr>
          <p:cNvPr id="7" name="Rounded Rectangle 6"/>
          <p:cNvSpPr/>
          <p:nvPr/>
        </p:nvSpPr>
        <p:spPr>
          <a:xfrm>
            <a:off x="7802575" y="1645920"/>
            <a:ext cx="3657600" cy="2468880"/>
          </a:xfrm>
          <a:prstGeom prst="roundRect">
            <a:avLst/>
          </a:prstGeom>
          <a:solidFill>
            <a:srgbClr val="1E293B"/>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a:lstStyle/>
          <a:p>
            <a:pPr algn="ctr">
              <a:spcAft>
                <a:spcPts val="600"/>
              </a:spcAft>
              <a:defRPr sz="1200" b="1">
                <a:solidFill>
                  <a:srgbClr val="34D399"/>
                </a:solidFill>
                <a:latin typeface="Segoe UI"/>
              </a:defRPr>
            </a:pPr>
            <a:r>
              <a:t>VERIFIED SYSTEM BENCHMARKS</a:t>
            </a:r>
          </a:p>
          <a:p>
            <a:pPr>
              <a:spcAft>
                <a:spcPts val="200"/>
              </a:spcAft>
              <a:defRPr sz="900" b="1">
                <a:solidFill>
                  <a:srgbClr val="F8FAFC"/>
                </a:solidFill>
                <a:latin typeface="Segoe UI"/>
              </a:defRPr>
            </a:pPr>
            <a:r>
              <a:t>• Simulated Wire Leakage: </a:t>
            </a:r>
            <a:r>
              <a:rPr b="0">
                <a:solidFill>
                  <a:srgbClr val="38BDF8"/>
                </a:solidFill>
              </a:rPr>
              <a:t>0.0% (Zero PII Reached External API)</a:t>
            </a:r>
          </a:p>
          <a:p>
            <a:pPr>
              <a:spcAft>
                <a:spcPts val="200"/>
              </a:spcAft>
              <a:defRPr sz="900" b="1">
                <a:solidFill>
                  <a:srgbClr val="F8FAFC"/>
                </a:solidFill>
                <a:latin typeface="Segoe UI"/>
              </a:defRPr>
            </a:pPr>
            <a:r>
              <a:t>• Average Processing Latency: </a:t>
            </a:r>
            <a:r>
              <a:rPr b="0">
                <a:solidFill>
                  <a:srgbClr val="38BDF8"/>
                </a:solidFill>
              </a:rPr>
              <a:t>1.2 ms (Sub-millisecond vs &lt;25ms SLA)</a:t>
            </a:r>
          </a:p>
          <a:p>
            <a:pPr>
              <a:spcAft>
                <a:spcPts val="200"/>
              </a:spcAft>
              <a:defRPr sz="900" b="1">
                <a:solidFill>
                  <a:srgbClr val="F8FAFC"/>
                </a:solidFill>
                <a:latin typeface="Segoe UI"/>
              </a:defRPr>
            </a:pPr>
            <a:r>
              <a:t>• Test Suite Pass Rate: </a:t>
            </a:r>
            <a:r>
              <a:rPr b="0">
                <a:solidFill>
                  <a:srgbClr val="38BDF8"/>
                </a:solidFill>
              </a:rPr>
              <a:t>333 / 333 Tests Passed (100%)</a:t>
            </a:r>
          </a:p>
          <a:p>
            <a:pPr>
              <a:spcAft>
                <a:spcPts val="200"/>
              </a:spcAft>
              <a:defRPr sz="900" b="1">
                <a:solidFill>
                  <a:srgbClr val="F8FAFC"/>
                </a:solidFill>
                <a:latin typeface="Segoe UI"/>
              </a:defRPr>
            </a:pPr>
            <a:r>
              <a:t>• Concurrent Throughput: </a:t>
            </a:r>
            <a:r>
              <a:rPr b="0">
                <a:solidFill>
                  <a:srgbClr val="38BDF8"/>
                </a:solidFill>
              </a:rPr>
              <a:t>&gt; 2,500 requests / sec (50 threads)</a:t>
            </a:r>
          </a:p>
          <a:p>
            <a:pPr>
              <a:spcAft>
                <a:spcPts val="200"/>
              </a:spcAft>
              <a:defRPr sz="900" b="1">
                <a:solidFill>
                  <a:srgbClr val="F8FAFC"/>
                </a:solidFill>
                <a:latin typeface="Segoe UI"/>
              </a:defRPr>
            </a:pPr>
            <a:r>
              <a:t>• Egress Restoration Fidelity: </a:t>
            </a:r>
            <a:r>
              <a:rPr b="0">
                <a:solidFill>
                  <a:srgbClr val="38BDF8"/>
                </a:solidFill>
              </a:rPr>
              <a:t>100.0% Exact Character Preservation</a:t>
            </a:r>
          </a:p>
        </p:txBody>
      </p:sp>
      <p:sp>
        <p:nvSpPr>
          <p:cNvPr id="8" name="Rounded Rectangle 7"/>
          <p:cNvSpPr/>
          <p:nvPr/>
        </p:nvSpPr>
        <p:spPr>
          <a:xfrm>
            <a:off x="7802575" y="4297680"/>
            <a:ext cx="3657600" cy="2194560"/>
          </a:xfrm>
          <a:prstGeom prst="roundRect">
            <a:avLst/>
          </a:prstGeom>
          <a:solidFill>
            <a:srgbClr val="1E293B"/>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a:lstStyle/>
          <a:p>
            <a:pPr algn="ctr">
              <a:spcAft>
                <a:spcPts val="600"/>
              </a:spcAft>
              <a:defRPr sz="1200" b="1">
                <a:solidFill>
                  <a:srgbClr val="A855F7"/>
                </a:solidFill>
                <a:latin typeface="Segoe UI"/>
              </a:defRPr>
            </a:pPr>
            <a:r>
              <a:t>KEY STRATEGIC ADVANTAGES</a:t>
            </a:r>
          </a:p>
          <a:p>
            <a:pPr>
              <a:spcAft>
                <a:spcPts val="200"/>
              </a:spcAft>
              <a:defRPr sz="919">
                <a:solidFill>
                  <a:srgbClr val="E2E8F0"/>
                </a:solidFill>
                <a:latin typeface="Segoe UI"/>
              </a:defRPr>
            </a:pPr>
            <a:r>
              <a:t>✓ Zero-Code Integration: Plug &amp; play decorator</a:t>
            </a:r>
          </a:p>
          <a:p>
            <a:pPr>
              <a:spcAft>
                <a:spcPts val="200"/>
              </a:spcAft>
              <a:defRPr sz="919">
                <a:solidFill>
                  <a:srgbClr val="E2E8F0"/>
                </a:solidFill>
                <a:latin typeface="Segoe UI"/>
              </a:defRPr>
            </a:pPr>
            <a:r>
              <a:t>✓ Local-First &amp; Offline: No mandatory paid APIs</a:t>
            </a:r>
          </a:p>
          <a:p>
            <a:pPr>
              <a:spcAft>
                <a:spcPts val="200"/>
              </a:spcAft>
              <a:defRPr sz="919">
                <a:solidFill>
                  <a:srgbClr val="E2E8F0"/>
                </a:solidFill>
                <a:latin typeface="Segoe UI"/>
              </a:defRPr>
            </a:pPr>
            <a:r>
              <a:t>✓ Mathematical Checksums: Luhn + Verhoeff</a:t>
            </a:r>
          </a:p>
          <a:p>
            <a:pPr>
              <a:spcAft>
                <a:spcPts val="200"/>
              </a:spcAft>
              <a:defRPr sz="919">
                <a:solidFill>
                  <a:srgbClr val="E2E8F0"/>
                </a:solidFill>
                <a:latin typeface="Segoe UI"/>
              </a:defRPr>
            </a:pPr>
            <a:r>
              <a:t>✓ Layer 2 MAC Binding: Prevents spoofing attacks</a:t>
            </a:r>
          </a:p>
          <a:p>
            <a:pPr>
              <a:spcAft>
                <a:spcPts val="200"/>
              </a:spcAft>
              <a:defRPr sz="919">
                <a:solidFill>
                  <a:srgbClr val="E2E8F0"/>
                </a:solidFill>
                <a:latin typeface="Segoe UI"/>
              </a:defRPr>
            </a:pPr>
            <a:r>
              <a:t>✓ Zero-PII Compliance Audit: Tamper-proof logs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274320"/>
          </a:xfrm>
          <a:prstGeom prst="rect">
            <a:avLst/>
          </a:prstGeom>
          <a:noFill/>
        </p:spPr>
        <p:txBody>
          <a:bodyPr wrap="square" lIns="0" tIns="0" rIns="0" bIns="0">
            <a:spAutoFit/>
          </a:bodyPr>
          <a:lstStyle/>
          <a:p>
            <a:pPr>
              <a:defRPr sz="950" b="1">
                <a:solidFill>
                  <a:srgbClr val="38BDF8"/>
                </a:solidFill>
                <a:latin typeface="Segoe UI"/>
              </a:defRPr>
            </a:pPr>
            <a:r>
              <a:t>SYSTEM FLOW DESIGN  •  PAGE 3 OF 6</a:t>
            </a:r>
          </a:p>
        </p:txBody>
      </p:sp>
      <p:sp>
        <p:nvSpPr>
          <p:cNvPr id="4" name="TextBox 3"/>
          <p:cNvSpPr txBox="1"/>
          <p:nvPr/>
        </p:nvSpPr>
        <p:spPr>
          <a:xfrm>
            <a:off x="731520" y="658368"/>
            <a:ext cx="10728655" cy="502920"/>
          </a:xfrm>
          <a:prstGeom prst="rect">
            <a:avLst/>
          </a:prstGeom>
          <a:noFill/>
        </p:spPr>
        <p:txBody>
          <a:bodyPr wrap="square" lIns="0" tIns="0" rIns="0" bIns="0">
            <a:spAutoFit/>
          </a:bodyPr>
          <a:lstStyle/>
          <a:p>
            <a:pPr>
              <a:defRPr sz="2200" b="1">
                <a:solidFill>
                  <a:srgbClr val="F8FAFC"/>
                </a:solidFill>
                <a:latin typeface="Segoe UI"/>
              </a:defRPr>
            </a:pPr>
            <a:r>
              <a:t>End-to-End Data Lifecycle &amp; Interception Flow</a:t>
            </a:r>
          </a:p>
        </p:txBody>
      </p:sp>
      <p:sp>
        <p:nvSpPr>
          <p:cNvPr id="5" name="TextBox 4"/>
          <p:cNvSpPr txBox="1"/>
          <p:nvPr/>
        </p:nvSpPr>
        <p:spPr>
          <a:xfrm>
            <a:off x="731520" y="1188720"/>
            <a:ext cx="10728655" cy="365760"/>
          </a:xfrm>
          <a:prstGeom prst="rect">
            <a:avLst/>
          </a:prstGeom>
          <a:noFill/>
        </p:spPr>
        <p:txBody>
          <a:bodyPr wrap="square" lIns="0" tIns="0" rIns="0" bIns="0">
            <a:spAutoFit/>
          </a:bodyPr>
          <a:lstStyle/>
          <a:p>
            <a:pPr>
              <a:defRPr sz="1100">
                <a:solidFill>
                  <a:srgbClr val="94A3B8"/>
                </a:solidFill>
                <a:latin typeface="Segoe UI"/>
              </a:defRPr>
            </a:pPr>
            <a:r>
              <a:t>8-Step Autonomous Pipeline: Ingress Interception → Evasion Normalization → Salted Vault → Zero-Leak Verification → Re-Hydration</a:t>
            </a:r>
          </a:p>
        </p:txBody>
      </p:sp>
      <p:pic>
        <p:nvPicPr>
          <p:cNvPr id="6" name="Picture 5" descr="system_flow_design.png"/>
          <p:cNvPicPr>
            <a:picLocks noChangeAspect="1"/>
          </p:cNvPicPr>
          <p:nvPr/>
        </p:nvPicPr>
        <p:blipFill>
          <a:blip r:embed="rId2"/>
          <a:stretch>
            <a:fillRect/>
          </a:stretch>
        </p:blipFill>
        <p:spPr>
          <a:xfrm>
            <a:off x="731520" y="1645920"/>
            <a:ext cx="10728655" cy="4206240"/>
          </a:xfrm>
          <a:prstGeom prst="rect">
            <a:avLst/>
          </a:prstGeom>
        </p:spPr>
      </p:pic>
      <p:sp>
        <p:nvSpPr>
          <p:cNvPr id="7" name="Rounded Rectangle 6"/>
          <p:cNvSpPr/>
          <p:nvPr/>
        </p:nvSpPr>
        <p:spPr>
          <a:xfrm>
            <a:off x="731520" y="5943600"/>
            <a:ext cx="10728655" cy="59436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lIns="228600"/>
          <a:lstStyle/>
          <a:p>
            <a:pPr algn="ctr">
              <a:defRPr sz="950" b="1">
                <a:solidFill>
                  <a:srgbClr val="38BDF8"/>
                </a:solidFill>
                <a:latin typeface="Segoe UI"/>
              </a:defRPr>
            </a:pPr>
            <a:r>
              <a:t>KEY FLOW GUARANTEE: </a:t>
            </a:r>
            <a:r>
              <a:rPr b="0">
                <a:solidFill>
                  <a:srgbClr val="F8FAFC"/>
                </a:solidFill>
              </a:rPr>
              <a:t>External APIs receive only opaque tokens (⟦TYPE_hash8⟧); real secrets never cross network boundaries. On response, original values are restored and vault RAM is wiped to 0 bytes.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274320"/>
          </a:xfrm>
          <a:prstGeom prst="rect">
            <a:avLst/>
          </a:prstGeom>
          <a:noFill/>
        </p:spPr>
        <p:txBody>
          <a:bodyPr wrap="square" lIns="0" tIns="0" rIns="0" bIns="0">
            <a:spAutoFit/>
          </a:bodyPr>
          <a:lstStyle/>
          <a:p>
            <a:pPr>
              <a:defRPr sz="950" b="1">
                <a:solidFill>
                  <a:srgbClr val="38BDF8"/>
                </a:solidFill>
                <a:latin typeface="Segoe UI"/>
              </a:defRPr>
            </a:pPr>
            <a:r>
              <a:t>SYSTEM ARCHITECTURE DESIGN  •  PAGE 4 OF 6</a:t>
            </a:r>
          </a:p>
        </p:txBody>
      </p:sp>
      <p:sp>
        <p:nvSpPr>
          <p:cNvPr id="4" name="TextBox 3"/>
          <p:cNvSpPr txBox="1"/>
          <p:nvPr/>
        </p:nvSpPr>
        <p:spPr>
          <a:xfrm>
            <a:off x="731520" y="658368"/>
            <a:ext cx="10728655" cy="502920"/>
          </a:xfrm>
          <a:prstGeom prst="rect">
            <a:avLst/>
          </a:prstGeom>
          <a:noFill/>
        </p:spPr>
        <p:txBody>
          <a:bodyPr wrap="square" lIns="0" tIns="0" rIns="0" bIns="0">
            <a:spAutoFit/>
          </a:bodyPr>
          <a:lstStyle/>
          <a:p>
            <a:pPr>
              <a:defRPr sz="2200" b="1">
                <a:solidFill>
                  <a:srgbClr val="F8FAFC"/>
                </a:solidFill>
                <a:latin typeface="Segoe UI"/>
              </a:defRPr>
            </a:pPr>
            <a:r>
              <a:t>Multi-Tier Enterprise Defense-in-Depth Architecture</a:t>
            </a:r>
          </a:p>
        </p:txBody>
      </p:sp>
      <p:sp>
        <p:nvSpPr>
          <p:cNvPr id="5" name="TextBox 4"/>
          <p:cNvSpPr txBox="1"/>
          <p:nvPr/>
        </p:nvSpPr>
        <p:spPr>
          <a:xfrm>
            <a:off x="731520" y="1188720"/>
            <a:ext cx="10728655" cy="365760"/>
          </a:xfrm>
          <a:prstGeom prst="rect">
            <a:avLst/>
          </a:prstGeom>
          <a:noFill/>
        </p:spPr>
        <p:txBody>
          <a:bodyPr wrap="square" lIns="0" tIns="0" rIns="0" bIns="0">
            <a:spAutoFit/>
          </a:bodyPr>
          <a:lstStyle/>
          <a:p>
            <a:pPr>
              <a:defRPr sz="1100">
                <a:solidFill>
                  <a:srgbClr val="94A3B8"/>
                </a:solidFill>
                <a:latin typeface="Segoe UI"/>
              </a:defRPr>
            </a:pPr>
            <a:r>
              <a:t>Modular Separation of Ingress, Adversarial Defense, Hybrid Detection, Ephemeral Vault &amp; Hardware Layer 2 Security</a:t>
            </a:r>
          </a:p>
        </p:txBody>
      </p:sp>
      <p:pic>
        <p:nvPicPr>
          <p:cNvPr id="6" name="Picture 5" descr="system_architecture_design.png"/>
          <p:cNvPicPr>
            <a:picLocks noChangeAspect="1"/>
          </p:cNvPicPr>
          <p:nvPr/>
        </p:nvPicPr>
        <p:blipFill>
          <a:blip r:embed="rId2"/>
          <a:stretch>
            <a:fillRect/>
          </a:stretch>
        </p:blipFill>
        <p:spPr>
          <a:xfrm>
            <a:off x="731520" y="1645920"/>
            <a:ext cx="10728655" cy="4206240"/>
          </a:xfrm>
          <a:prstGeom prst="rect">
            <a:avLst/>
          </a:prstGeom>
        </p:spPr>
      </p:pic>
      <p:sp>
        <p:nvSpPr>
          <p:cNvPr id="7" name="Rounded Rectangle 6"/>
          <p:cNvSpPr/>
          <p:nvPr/>
        </p:nvSpPr>
        <p:spPr>
          <a:xfrm>
            <a:off x="731520" y="5943600"/>
            <a:ext cx="10728655" cy="594360"/>
          </a:xfrm>
          <a:prstGeom prst="roundRect">
            <a:avLst/>
          </a:prstGeom>
          <a:solidFill>
            <a:srgbClr val="1E293B"/>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lIns="228600"/>
          <a:lstStyle/>
          <a:p>
            <a:pPr algn="ctr">
              <a:defRPr sz="950" b="1">
                <a:solidFill>
                  <a:srgbClr val="34D399"/>
                </a:solidFill>
                <a:latin typeface="Segoe UI"/>
              </a:defRPr>
            </a:pPr>
            <a:r>
              <a:t>ARCHITECTURAL INTEGRITY: </a:t>
            </a:r>
            <a:r>
              <a:rPr b="0">
                <a:solidFill>
                  <a:srgbClr val="F8FAFC"/>
                </a:solidFill>
              </a:rPr>
              <a:t>Layer 2 MAC binding ensures hardware-level origin authenticity. 3-tier policy engine operates fail-closed, blocking credentials and verifying 0.0% residual leakage before transmission.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274320"/>
          </a:xfrm>
          <a:prstGeom prst="rect">
            <a:avLst/>
          </a:prstGeom>
          <a:noFill/>
        </p:spPr>
        <p:txBody>
          <a:bodyPr wrap="square" lIns="0" tIns="0" rIns="0" bIns="0">
            <a:spAutoFit/>
          </a:bodyPr>
          <a:lstStyle/>
          <a:p>
            <a:pPr>
              <a:defRPr sz="950" b="1">
                <a:solidFill>
                  <a:srgbClr val="38BDF8"/>
                </a:solidFill>
                <a:latin typeface="Segoe UI"/>
              </a:defRPr>
            </a:pPr>
            <a:r>
              <a:t>TARGET USERS &amp; ENTERPRISE AUDIENCE  •  PAGE 5 OF 6</a:t>
            </a:r>
          </a:p>
        </p:txBody>
      </p:sp>
      <p:sp>
        <p:nvSpPr>
          <p:cNvPr id="4" name="TextBox 3"/>
          <p:cNvSpPr txBox="1"/>
          <p:nvPr/>
        </p:nvSpPr>
        <p:spPr>
          <a:xfrm>
            <a:off x="731520" y="658368"/>
            <a:ext cx="10728655" cy="502920"/>
          </a:xfrm>
          <a:prstGeom prst="rect">
            <a:avLst/>
          </a:prstGeom>
          <a:noFill/>
        </p:spPr>
        <p:txBody>
          <a:bodyPr wrap="square" lIns="0" tIns="0" rIns="0" bIns="0">
            <a:spAutoFit/>
          </a:bodyPr>
          <a:lstStyle/>
          <a:p>
            <a:pPr>
              <a:defRPr sz="2200" b="1">
                <a:solidFill>
                  <a:srgbClr val="F8FAFC"/>
                </a:solidFill>
                <a:latin typeface="Segoe UI"/>
              </a:defRPr>
            </a:pPr>
            <a:r>
              <a:t>Who Uses PII Firewall? Core User Segments &amp; Personas</a:t>
            </a:r>
          </a:p>
        </p:txBody>
      </p:sp>
      <p:sp>
        <p:nvSpPr>
          <p:cNvPr id="5" name="TextBox 4"/>
          <p:cNvSpPr txBox="1"/>
          <p:nvPr/>
        </p:nvSpPr>
        <p:spPr>
          <a:xfrm>
            <a:off x="731520" y="1188720"/>
            <a:ext cx="10728655" cy="365760"/>
          </a:xfrm>
          <a:prstGeom prst="rect">
            <a:avLst/>
          </a:prstGeom>
          <a:noFill/>
        </p:spPr>
        <p:txBody>
          <a:bodyPr wrap="square" lIns="0" tIns="0" rIns="0" bIns="0">
            <a:spAutoFit/>
          </a:bodyPr>
          <a:lstStyle/>
          <a:p>
            <a:pPr>
              <a:defRPr sz="1100">
                <a:solidFill>
                  <a:srgbClr val="94A3B8"/>
                </a:solidFill>
                <a:latin typeface="Segoe UI"/>
              </a:defRPr>
            </a:pPr>
            <a:r>
              <a:t>Designed for Developers, CISOs, Compliance Officers, and Regulated Industry AI Implementations</a:t>
            </a:r>
          </a:p>
        </p:txBody>
      </p:sp>
      <p:sp>
        <p:nvSpPr>
          <p:cNvPr id="6" name="Rounded Rectangle 5"/>
          <p:cNvSpPr/>
          <p:nvPr/>
        </p:nvSpPr>
        <p:spPr>
          <a:xfrm>
            <a:off x="731520" y="1645920"/>
            <a:ext cx="2542032" cy="475488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900" b="1">
                <a:solidFill>
                  <a:srgbClr val="38BDF8"/>
                </a:solidFill>
                <a:latin typeface="Segoe UI"/>
              </a:defRPr>
            </a:pPr>
            <a:r>
              <a:t>PERSONA 1</a:t>
            </a:r>
          </a:p>
          <a:p>
            <a:pPr>
              <a:defRPr sz="1300" b="1">
                <a:solidFill>
                  <a:srgbClr val="F8FAFC"/>
                </a:solidFill>
                <a:latin typeface="Segoe UI"/>
              </a:defRPr>
            </a:pPr>
            <a:r>
              <a:t>AI Agent Developers &amp; Engineers</a:t>
            </a:r>
          </a:p>
          <a:p>
            <a:pPr>
              <a:spcAft>
                <a:spcPts val="800"/>
              </a:spcAft>
              <a:defRPr sz="950">
                <a:solidFill>
                  <a:srgbClr val="38BDF8"/>
                </a:solidFill>
                <a:latin typeface="Segoe UI"/>
              </a:defRPr>
            </a:pPr>
            <a:r>
              <a:t>Building with LangChain, CrewAI, AutoGen</a:t>
            </a:r>
          </a:p>
          <a:p>
            <a:pPr>
              <a:spcAft>
                <a:spcPts val="1000"/>
              </a:spcAft>
              <a:defRPr sz="900">
                <a:solidFill>
                  <a:srgbClr val="94A3B8"/>
                </a:solidFill>
                <a:latin typeface="Segoe UI"/>
              </a:defRPr>
            </a:pPr>
            <a:r>
              <a:t>Developers building autonomous tool-calling agents who need privacy protection without rebuilding API integrations.</a:t>
            </a:r>
          </a:p>
          <a:p>
            <a:pPr>
              <a:defRPr sz="880" b="1">
                <a:solidFill>
                  <a:srgbClr val="F8FAFC"/>
                </a:solidFill>
                <a:latin typeface="Segoe UI"/>
              </a:defRPr>
            </a:pPr>
            <a:r>
              <a:t>▸ Pain Solved:</a:t>
            </a:r>
          </a:p>
          <a:p>
            <a:pPr>
              <a:spcAft>
                <a:spcPts val="600"/>
              </a:spcAft>
              <a:defRPr sz="850">
                <a:solidFill>
                  <a:srgbClr val="E2E8F0"/>
                </a:solidFill>
                <a:latin typeface="Segoe UI"/>
              </a:defRPr>
            </a:pPr>
            <a:r>
              <a:t>Eliminates accidental PII leakage in tool function arguments.</a:t>
            </a:r>
          </a:p>
          <a:p>
            <a:pPr>
              <a:defRPr sz="880" b="1">
                <a:solidFill>
                  <a:srgbClr val="F8FAFC"/>
                </a:solidFill>
                <a:latin typeface="Segoe UI"/>
              </a:defRPr>
            </a:pPr>
            <a:r>
              <a:t>▸ Key Feature:</a:t>
            </a:r>
          </a:p>
          <a:p>
            <a:pPr>
              <a:spcAft>
                <a:spcPts val="600"/>
              </a:spcAft>
              <a:defRPr sz="850">
                <a:solidFill>
                  <a:srgbClr val="E2E8F0"/>
                </a:solidFill>
                <a:latin typeface="Segoe UI"/>
              </a:defRPr>
            </a:pPr>
            <a:r>
              <a:t>@protect_tool decorator &amp; REST microservice for instant integration.</a:t>
            </a:r>
          </a:p>
          <a:p>
            <a:pPr>
              <a:defRPr sz="880" b="1">
                <a:solidFill>
                  <a:srgbClr val="F8FAFC"/>
                </a:solidFill>
                <a:latin typeface="Segoe UI"/>
              </a:defRPr>
            </a:pPr>
            <a:r>
              <a:t>▸ Workflow Impact:</a:t>
            </a:r>
          </a:p>
          <a:p>
            <a:pPr>
              <a:spcAft>
                <a:spcPts val="600"/>
              </a:spcAft>
              <a:defRPr sz="850">
                <a:solidFill>
                  <a:srgbClr val="E2E8F0"/>
                </a:solidFill>
                <a:latin typeface="Segoe UI"/>
              </a:defRPr>
            </a:pPr>
            <a:r>
              <a:t>Zero latency penalty (~1.2 ms); responses re-hydrate automatically.</a:t>
            </a:r>
          </a:p>
        </p:txBody>
      </p:sp>
      <p:sp>
        <p:nvSpPr>
          <p:cNvPr id="7" name="Rounded Rectangle 6"/>
          <p:cNvSpPr/>
          <p:nvPr/>
        </p:nvSpPr>
        <p:spPr>
          <a:xfrm>
            <a:off x="3456432" y="1645920"/>
            <a:ext cx="2542032" cy="4754880"/>
          </a:xfrm>
          <a:prstGeom prst="roundRect">
            <a:avLst/>
          </a:prstGeom>
          <a:solidFill>
            <a:srgbClr val="1E293B"/>
          </a:solidFill>
          <a:ln w="1905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900" b="1">
                <a:solidFill>
                  <a:srgbClr val="F43F5E"/>
                </a:solidFill>
                <a:latin typeface="Segoe UI"/>
              </a:defRPr>
            </a:pPr>
            <a:r>
              <a:t>PERSONA 2</a:t>
            </a:r>
          </a:p>
          <a:p>
            <a:pPr>
              <a:defRPr sz="1300" b="1">
                <a:solidFill>
                  <a:srgbClr val="F8FAFC"/>
                </a:solidFill>
                <a:latin typeface="Segoe UI"/>
              </a:defRPr>
            </a:pPr>
            <a:r>
              <a:t>Enterprise CISOs &amp; SecOps Teams</a:t>
            </a:r>
          </a:p>
          <a:p>
            <a:pPr>
              <a:spcAft>
                <a:spcPts val="800"/>
              </a:spcAft>
              <a:defRPr sz="950">
                <a:solidFill>
                  <a:srgbClr val="F43F5E"/>
                </a:solidFill>
                <a:latin typeface="Segoe UI"/>
              </a:defRPr>
            </a:pPr>
            <a:r>
              <a:t>Securing Corporate AI Deployments</a:t>
            </a:r>
          </a:p>
          <a:p>
            <a:pPr>
              <a:spcAft>
                <a:spcPts val="1000"/>
              </a:spcAft>
              <a:defRPr sz="900">
                <a:solidFill>
                  <a:srgbClr val="94A3B8"/>
                </a:solidFill>
                <a:latin typeface="Segoe UI"/>
              </a:defRPr>
            </a:pPr>
            <a:r>
              <a:t>Chief Information Security Officers responsible for Zero-Trust enterprise architecture and data loss prevention.</a:t>
            </a:r>
          </a:p>
          <a:p>
            <a:pPr>
              <a:defRPr sz="880" b="1">
                <a:solidFill>
                  <a:srgbClr val="F8FAFC"/>
                </a:solidFill>
                <a:latin typeface="Segoe UI"/>
              </a:defRPr>
            </a:pPr>
            <a:r>
              <a:t>▸ Pain Solved:</a:t>
            </a:r>
          </a:p>
          <a:p>
            <a:pPr>
              <a:spcAft>
                <a:spcPts val="600"/>
              </a:spcAft>
              <a:defRPr sz="850">
                <a:solidFill>
                  <a:srgbClr val="E2E8F0"/>
                </a:solidFill>
                <a:latin typeface="Segoe UI"/>
              </a:defRPr>
            </a:pPr>
            <a:r>
              <a:t>Stops prompt injections, Unicode evasions, and API credential exfiltration.</a:t>
            </a:r>
          </a:p>
          <a:p>
            <a:pPr>
              <a:defRPr sz="880" b="1">
                <a:solidFill>
                  <a:srgbClr val="F8FAFC"/>
                </a:solidFill>
                <a:latin typeface="Segoe UI"/>
              </a:defRPr>
            </a:pPr>
            <a:r>
              <a:t>▸ Key Feature:</a:t>
            </a:r>
          </a:p>
          <a:p>
            <a:pPr>
              <a:spcAft>
                <a:spcPts val="600"/>
              </a:spcAft>
              <a:defRPr sz="850">
                <a:solidFill>
                  <a:srgbClr val="E2E8F0"/>
                </a:solidFill>
                <a:latin typeface="Segoe UI"/>
              </a:defRPr>
            </a:pPr>
            <a:r>
              <a:t>Hardware Layer 2 MAC binding &amp; Fail-Closed Leakage Verifier.</a:t>
            </a:r>
          </a:p>
          <a:p>
            <a:pPr>
              <a:defRPr sz="880" b="1">
                <a:solidFill>
                  <a:srgbClr val="F8FAFC"/>
                </a:solidFill>
                <a:latin typeface="Segoe UI"/>
              </a:defRPr>
            </a:pPr>
            <a:r>
              <a:t>▸ Workflow Impact:</a:t>
            </a:r>
          </a:p>
          <a:p>
            <a:pPr>
              <a:spcAft>
                <a:spcPts val="600"/>
              </a:spcAft>
              <a:defRPr sz="850">
                <a:solidFill>
                  <a:srgbClr val="E2E8F0"/>
                </a:solidFill>
                <a:latin typeface="Segoe UI"/>
              </a:defRPr>
            </a:pPr>
            <a:r>
              <a:t>Full visibility with zero PII stored in compliance audit logs.</a:t>
            </a:r>
          </a:p>
        </p:txBody>
      </p:sp>
      <p:sp>
        <p:nvSpPr>
          <p:cNvPr id="8" name="Rounded Rectangle 7"/>
          <p:cNvSpPr/>
          <p:nvPr/>
        </p:nvSpPr>
        <p:spPr>
          <a:xfrm>
            <a:off x="6181344" y="1645920"/>
            <a:ext cx="2542032" cy="475488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900" b="1">
                <a:solidFill>
                  <a:srgbClr val="F59E0B"/>
                </a:solidFill>
                <a:latin typeface="Segoe UI"/>
              </a:defRPr>
            </a:pPr>
            <a:r>
              <a:t>PERSONA 3</a:t>
            </a:r>
          </a:p>
          <a:p>
            <a:pPr>
              <a:defRPr sz="1300" b="1">
                <a:solidFill>
                  <a:srgbClr val="F8FAFC"/>
                </a:solidFill>
                <a:latin typeface="Segoe UI"/>
              </a:defRPr>
            </a:pPr>
            <a:r>
              <a:t>Compliance &amp; Legal Officers</a:t>
            </a:r>
          </a:p>
          <a:p>
            <a:pPr>
              <a:spcAft>
                <a:spcPts val="800"/>
              </a:spcAft>
              <a:defRPr sz="950">
                <a:solidFill>
                  <a:srgbClr val="F59E0B"/>
                </a:solidFill>
                <a:latin typeface="Segoe UI"/>
              </a:defRPr>
            </a:pPr>
            <a:r>
              <a:t>GDPR, HIPAA, DPDP &amp; PCI-DSS Governance</a:t>
            </a:r>
          </a:p>
          <a:p>
            <a:pPr>
              <a:spcAft>
                <a:spcPts val="1000"/>
              </a:spcAft>
              <a:defRPr sz="900">
                <a:solidFill>
                  <a:srgbClr val="94A3B8"/>
                </a:solidFill>
                <a:latin typeface="Segoe UI"/>
              </a:defRPr>
            </a:pPr>
            <a:r>
              <a:t>Corporate privacy teams enforcing strict compliance with international and national privacy mandates.</a:t>
            </a:r>
          </a:p>
          <a:p>
            <a:pPr>
              <a:defRPr sz="880" b="1">
                <a:solidFill>
                  <a:srgbClr val="F8FAFC"/>
                </a:solidFill>
                <a:latin typeface="Segoe UI"/>
              </a:defRPr>
            </a:pPr>
            <a:r>
              <a:t>▸ Pain Solved:</a:t>
            </a:r>
          </a:p>
          <a:p>
            <a:pPr>
              <a:spcAft>
                <a:spcPts val="600"/>
              </a:spcAft>
              <a:defRPr sz="850">
                <a:solidFill>
                  <a:srgbClr val="E2E8F0"/>
                </a:solidFill>
                <a:latin typeface="Segoe UI"/>
              </a:defRPr>
            </a:pPr>
            <a:r>
              <a:t>Mitigates severe statutory fines from unauthorized third-party disclosure.</a:t>
            </a:r>
          </a:p>
          <a:p>
            <a:pPr>
              <a:defRPr sz="880" b="1">
                <a:solidFill>
                  <a:srgbClr val="F8FAFC"/>
                </a:solidFill>
                <a:latin typeface="Segoe UI"/>
              </a:defRPr>
            </a:pPr>
            <a:r>
              <a:t>▸ Key Feature:</a:t>
            </a:r>
          </a:p>
          <a:p>
            <a:pPr>
              <a:spcAft>
                <a:spcPts val="600"/>
              </a:spcAft>
              <a:defRPr sz="850">
                <a:solidFill>
                  <a:srgbClr val="E2E8F0"/>
                </a:solidFill>
                <a:latin typeface="Segoe UI"/>
              </a:defRPr>
            </a:pPr>
            <a:r>
              <a:t>Verifiable mathematical proof of 0.0% residual data leakage.</a:t>
            </a:r>
          </a:p>
          <a:p>
            <a:pPr>
              <a:defRPr sz="880" b="1">
                <a:solidFill>
                  <a:srgbClr val="F8FAFC"/>
                </a:solidFill>
                <a:latin typeface="Segoe UI"/>
              </a:defRPr>
            </a:pPr>
            <a:r>
              <a:t>▸ Workflow Impact:</a:t>
            </a:r>
          </a:p>
          <a:p>
            <a:pPr>
              <a:spcAft>
                <a:spcPts val="600"/>
              </a:spcAft>
              <a:defRPr sz="850">
                <a:solidFill>
                  <a:srgbClr val="E2E8F0"/>
                </a:solidFill>
                <a:latin typeface="Segoe UI"/>
              </a:defRPr>
            </a:pPr>
            <a:r>
              <a:t>Cryptographically verifiable SHA-256 audit ledgers for auditors.</a:t>
            </a:r>
          </a:p>
        </p:txBody>
      </p:sp>
      <p:sp>
        <p:nvSpPr>
          <p:cNvPr id="9" name="Rounded Rectangle 8"/>
          <p:cNvSpPr/>
          <p:nvPr/>
        </p:nvSpPr>
        <p:spPr>
          <a:xfrm>
            <a:off x="8906256" y="1645920"/>
            <a:ext cx="2542032" cy="4754880"/>
          </a:xfrm>
          <a:prstGeom prst="roundRect">
            <a:avLst/>
          </a:prstGeom>
          <a:solidFill>
            <a:srgbClr val="1E293B"/>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900" b="1">
                <a:solidFill>
                  <a:srgbClr val="34D399"/>
                </a:solidFill>
                <a:latin typeface="Segoe UI"/>
              </a:defRPr>
            </a:pPr>
            <a:r>
              <a:t>PERSONA 4</a:t>
            </a:r>
          </a:p>
          <a:p>
            <a:pPr>
              <a:defRPr sz="1300" b="1">
                <a:solidFill>
                  <a:srgbClr val="F8FAFC"/>
                </a:solidFill>
                <a:latin typeface="Segoe UI"/>
              </a:defRPr>
            </a:pPr>
            <a:r>
              <a:t>FinTech &amp; Healthcare SaaS Platforms</a:t>
            </a:r>
          </a:p>
          <a:p>
            <a:pPr>
              <a:spcAft>
                <a:spcPts val="800"/>
              </a:spcAft>
              <a:defRPr sz="950">
                <a:solidFill>
                  <a:srgbClr val="34D399"/>
                </a:solidFill>
                <a:latin typeface="Segoe UI"/>
              </a:defRPr>
            </a:pPr>
            <a:r>
              <a:t>Banking, Telehealth &amp; Insurance Applications</a:t>
            </a:r>
          </a:p>
          <a:p>
            <a:pPr>
              <a:spcAft>
                <a:spcPts val="1000"/>
              </a:spcAft>
              <a:defRPr sz="900">
                <a:solidFill>
                  <a:srgbClr val="94A3B8"/>
                </a:solidFill>
                <a:latin typeface="Segoe UI"/>
              </a:defRPr>
            </a:pPr>
            <a:r>
              <a:t>Regulated enterprises deploying AI agents for loan approvals, claims processing, and medical triage.</a:t>
            </a:r>
          </a:p>
          <a:p>
            <a:pPr>
              <a:defRPr sz="880" b="1">
                <a:solidFill>
                  <a:srgbClr val="F8FAFC"/>
                </a:solidFill>
                <a:latin typeface="Segoe UI"/>
              </a:defRPr>
            </a:pPr>
            <a:r>
              <a:t>▸ Pain Solved:</a:t>
            </a:r>
          </a:p>
          <a:p>
            <a:pPr>
              <a:spcAft>
                <a:spcPts val="600"/>
              </a:spcAft>
              <a:defRPr sz="850">
                <a:solidFill>
                  <a:srgbClr val="E2E8F0"/>
                </a:solidFill>
                <a:latin typeface="Segoe UI"/>
              </a:defRPr>
            </a:pPr>
            <a:r>
              <a:t>Prevents transmission of ATM PINs, CVVs, PAN, Aadhaar, and medical records.</a:t>
            </a:r>
          </a:p>
          <a:p>
            <a:pPr>
              <a:defRPr sz="880" b="1">
                <a:solidFill>
                  <a:srgbClr val="F8FAFC"/>
                </a:solidFill>
                <a:latin typeface="Segoe UI"/>
              </a:defRPr>
            </a:pPr>
            <a:r>
              <a:t>▸ Key Feature:</a:t>
            </a:r>
          </a:p>
          <a:p>
            <a:pPr>
              <a:spcAft>
                <a:spcPts val="600"/>
              </a:spcAft>
              <a:defRPr sz="850">
                <a:solidFill>
                  <a:srgbClr val="E2E8F0"/>
                </a:solidFill>
                <a:latin typeface="Segoe UI"/>
              </a:defRPr>
            </a:pPr>
            <a:r>
              <a:t>Tier 1 Credential Hard-Block and Indian KYC Verhoeff algorithms.</a:t>
            </a:r>
          </a:p>
          <a:p>
            <a:pPr>
              <a:defRPr sz="880" b="1">
                <a:solidFill>
                  <a:srgbClr val="F8FAFC"/>
                </a:solidFill>
                <a:latin typeface="Segoe UI"/>
              </a:defRPr>
            </a:pPr>
            <a:r>
              <a:t>▸ Workflow Impact:</a:t>
            </a:r>
          </a:p>
          <a:p>
            <a:pPr>
              <a:spcAft>
                <a:spcPts val="600"/>
              </a:spcAft>
              <a:defRPr sz="850">
                <a:solidFill>
                  <a:srgbClr val="E2E8F0"/>
                </a:solidFill>
                <a:latin typeface="Segoe UI"/>
              </a:defRPr>
            </a:pPr>
            <a:r>
              <a:t>Enables safe autonomous workflows in highly scrutinized domains.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274320"/>
          </a:xfrm>
          <a:prstGeom prst="rect">
            <a:avLst/>
          </a:prstGeom>
          <a:noFill/>
        </p:spPr>
        <p:txBody>
          <a:bodyPr wrap="square" lIns="0" tIns="0" rIns="0" bIns="0">
            <a:spAutoFit/>
          </a:bodyPr>
          <a:lstStyle/>
          <a:p>
            <a:pPr>
              <a:defRPr sz="950" b="1">
                <a:solidFill>
                  <a:srgbClr val="38BDF8"/>
                </a:solidFill>
                <a:latin typeface="Segoe UI"/>
              </a:defRPr>
            </a:pPr>
            <a:r>
              <a:t>TECHNOLOGY &amp; ARCHITECTURE STACK  •  PAGE 6 OF 6</a:t>
            </a:r>
          </a:p>
        </p:txBody>
      </p:sp>
      <p:sp>
        <p:nvSpPr>
          <p:cNvPr id="4" name="TextBox 3"/>
          <p:cNvSpPr txBox="1"/>
          <p:nvPr/>
        </p:nvSpPr>
        <p:spPr>
          <a:xfrm>
            <a:off x="731520" y="658368"/>
            <a:ext cx="10728655" cy="502920"/>
          </a:xfrm>
          <a:prstGeom prst="rect">
            <a:avLst/>
          </a:prstGeom>
          <a:noFill/>
        </p:spPr>
        <p:txBody>
          <a:bodyPr wrap="square" lIns="0" tIns="0" rIns="0" bIns="0">
            <a:spAutoFit/>
          </a:bodyPr>
          <a:lstStyle/>
          <a:p>
            <a:pPr>
              <a:defRPr sz="2200" b="1">
                <a:solidFill>
                  <a:srgbClr val="F8FAFC"/>
                </a:solidFill>
                <a:latin typeface="Segoe UI"/>
              </a:defRPr>
            </a:pPr>
            <a:r>
              <a:t>Core Technologies &amp; Implementation Frameworks</a:t>
            </a:r>
          </a:p>
        </p:txBody>
      </p:sp>
      <p:sp>
        <p:nvSpPr>
          <p:cNvPr id="5" name="TextBox 4"/>
          <p:cNvSpPr txBox="1"/>
          <p:nvPr/>
        </p:nvSpPr>
        <p:spPr>
          <a:xfrm>
            <a:off x="731520" y="1188720"/>
            <a:ext cx="10728655" cy="365760"/>
          </a:xfrm>
          <a:prstGeom prst="rect">
            <a:avLst/>
          </a:prstGeom>
          <a:noFill/>
        </p:spPr>
        <p:txBody>
          <a:bodyPr wrap="square" lIns="0" tIns="0" rIns="0" bIns="0">
            <a:spAutoFit/>
          </a:bodyPr>
          <a:lstStyle/>
          <a:p>
            <a:pPr>
              <a:defRPr sz="1100">
                <a:solidFill>
                  <a:srgbClr val="94A3B8"/>
                </a:solidFill>
                <a:latin typeface="Segoe UI"/>
              </a:defRPr>
            </a:pPr>
            <a:r>
              <a:t>Production-Ready, High-Performance Stack Built for Sub-Millisecond Speed, High Concurrency &amp; Zero Data Leakage</a:t>
            </a:r>
          </a:p>
        </p:txBody>
      </p:sp>
      <p:sp>
        <p:nvSpPr>
          <p:cNvPr id="6" name="Rounded Rectangle 5"/>
          <p:cNvSpPr/>
          <p:nvPr/>
        </p:nvSpPr>
        <p:spPr>
          <a:xfrm>
            <a:off x="731520" y="1645920"/>
            <a:ext cx="2542032" cy="393192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spcAft>
                <a:spcPts val="1000"/>
              </a:spcAft>
              <a:defRPr sz="1100" b="1">
                <a:solidFill>
                  <a:srgbClr val="38BDF8"/>
                </a:solidFill>
                <a:latin typeface="Segoe UI"/>
              </a:defRPr>
            </a:pPr>
            <a:r>
              <a:t>CORE RUNTIME &amp; BACKEND</a:t>
            </a:r>
          </a:p>
          <a:p>
            <a:pPr>
              <a:defRPr sz="950" b="1">
                <a:solidFill>
                  <a:srgbClr val="F8FAFC"/>
                </a:solidFill>
                <a:latin typeface="Segoe UI"/>
              </a:defRPr>
            </a:pPr>
            <a:r>
              <a:t>• Python 3.11+</a:t>
            </a:r>
          </a:p>
          <a:p>
            <a:pPr>
              <a:spcAft>
                <a:spcPts val="500"/>
              </a:spcAft>
              <a:defRPr sz="850">
                <a:solidFill>
                  <a:srgbClr val="94A3B8"/>
                </a:solidFill>
                <a:latin typeface="Segoe UI"/>
              </a:defRPr>
            </a:pPr>
            <a:r>
              <a:t>High-performance typing, async runtime &amp; recursive scanner</a:t>
            </a:r>
          </a:p>
          <a:p>
            <a:pPr>
              <a:defRPr sz="950" b="1">
                <a:solidFill>
                  <a:srgbClr val="F8FAFC"/>
                </a:solidFill>
                <a:latin typeface="Segoe UI"/>
              </a:defRPr>
            </a:pPr>
            <a:r>
              <a:t>• Concurrent Batch Engine</a:t>
            </a:r>
          </a:p>
          <a:p>
            <a:pPr>
              <a:spcAft>
                <a:spcPts val="500"/>
              </a:spcAft>
              <a:defRPr sz="850">
                <a:solidFill>
                  <a:srgbClr val="94A3B8"/>
                </a:solidFill>
                <a:latin typeface="Segoe UI"/>
              </a:defRPr>
            </a:pPr>
            <a:r>
              <a:t>ThreadPoolExecutor processing &gt;2,500 req/sec across 50 threads</a:t>
            </a:r>
          </a:p>
          <a:p>
            <a:pPr>
              <a:defRPr sz="950" b="1">
                <a:solidFill>
                  <a:srgbClr val="F8FAFC"/>
                </a:solidFill>
                <a:latin typeface="Segoe UI"/>
              </a:defRPr>
            </a:pPr>
            <a:r>
              <a:t>• Checksum Algorithmic Engines</a:t>
            </a:r>
          </a:p>
          <a:p>
            <a:pPr>
              <a:spcAft>
                <a:spcPts val="500"/>
              </a:spcAft>
              <a:defRPr sz="850">
                <a:solidFill>
                  <a:srgbClr val="94A3B8"/>
                </a:solidFill>
                <a:latin typeface="Segoe UI"/>
              </a:defRPr>
            </a:pPr>
            <a:r>
              <a:t>Luhn Mod-10 (Credit Cards) &amp; UIDAI Verhoeff (Aadhaar KYC)</a:t>
            </a:r>
          </a:p>
          <a:p>
            <a:pPr>
              <a:defRPr sz="950" b="1">
                <a:solidFill>
                  <a:srgbClr val="F8FAFC"/>
                </a:solidFill>
                <a:latin typeface="Segoe UI"/>
              </a:defRPr>
            </a:pPr>
            <a:r>
              <a:t>• JSON Tree Sanitizer</a:t>
            </a:r>
          </a:p>
          <a:p>
            <a:pPr>
              <a:spcAft>
                <a:spcPts val="500"/>
              </a:spcAft>
              <a:defRPr sz="850">
                <a:solidFill>
                  <a:srgbClr val="94A3B8"/>
                </a:solidFill>
                <a:latin typeface="Segoe UI"/>
              </a:defRPr>
            </a:pPr>
            <a:r>
              <a:t>Recursive dictionary/list walker preserving data primitives</a:t>
            </a:r>
          </a:p>
        </p:txBody>
      </p:sp>
      <p:sp>
        <p:nvSpPr>
          <p:cNvPr id="7" name="Rounded Rectangle 6"/>
          <p:cNvSpPr/>
          <p:nvPr/>
        </p:nvSpPr>
        <p:spPr>
          <a:xfrm>
            <a:off x="3456432" y="1645920"/>
            <a:ext cx="2542032" cy="3931920"/>
          </a:xfrm>
          <a:prstGeom prst="roundRect">
            <a:avLst/>
          </a:prstGeom>
          <a:solidFill>
            <a:srgbClr val="1E293B"/>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spcAft>
                <a:spcPts val="1000"/>
              </a:spcAft>
              <a:defRPr sz="1100" b="1">
                <a:solidFill>
                  <a:srgbClr val="34D399"/>
                </a:solidFill>
                <a:latin typeface="Segoe UI"/>
              </a:defRPr>
            </a:pPr>
            <a:r>
              <a:t>SECURITY &amp; CRYPTOGRAPHY</a:t>
            </a:r>
          </a:p>
          <a:p>
            <a:pPr>
              <a:defRPr sz="950" b="1">
                <a:solidFill>
                  <a:srgbClr val="F8FAFC"/>
                </a:solidFill>
                <a:latin typeface="Segoe UI"/>
              </a:defRPr>
            </a:pPr>
            <a:r>
              <a:t>• Cryptographic Salt Generator</a:t>
            </a:r>
          </a:p>
          <a:p>
            <a:pPr>
              <a:spcAft>
                <a:spcPts val="500"/>
              </a:spcAft>
              <a:defRPr sz="850">
                <a:solidFill>
                  <a:srgbClr val="94A3B8"/>
                </a:solidFill>
                <a:latin typeface="Segoe UI"/>
              </a:defRPr>
            </a:pPr>
            <a:r>
              <a:t>128-bit random salts generated per-request via os.urandom(16)</a:t>
            </a:r>
          </a:p>
          <a:p>
            <a:pPr>
              <a:defRPr sz="950" b="1">
                <a:solidFill>
                  <a:srgbClr val="F8FAFC"/>
                </a:solidFill>
                <a:latin typeface="Segoe UI"/>
              </a:defRPr>
            </a:pPr>
            <a:r>
              <a:t>• HMAC &amp; SHA-256 Hashes</a:t>
            </a:r>
          </a:p>
          <a:p>
            <a:pPr>
              <a:spcAft>
                <a:spcPts val="500"/>
              </a:spcAft>
              <a:defRPr sz="850">
                <a:solidFill>
                  <a:srgbClr val="94A3B8"/>
                </a:solidFill>
                <a:latin typeface="Segoe UI"/>
              </a:defRPr>
            </a:pPr>
            <a:r>
              <a:t>Deterministic request-scoped token mapping (⟦TYPE_hash8⟧)</a:t>
            </a:r>
          </a:p>
          <a:p>
            <a:pPr>
              <a:defRPr sz="950" b="1">
                <a:solidFill>
                  <a:srgbClr val="F8FAFC"/>
                </a:solidFill>
                <a:latin typeface="Segoe UI"/>
              </a:defRPr>
            </a:pPr>
            <a:r>
              <a:t>• Layer 2 Hardware Binding</a:t>
            </a:r>
          </a:p>
          <a:p>
            <a:pPr>
              <a:spcAft>
                <a:spcPts val="500"/>
              </a:spcAft>
              <a:defRPr sz="850">
                <a:solidFill>
                  <a:srgbClr val="94A3B8"/>
                </a:solidFill>
                <a:latin typeface="Segoe UI"/>
              </a:defRPr>
            </a:pPr>
            <a:r>
              <a:t>Client MAC address pinning, IEEE 802.1AE MACsec compliance</a:t>
            </a:r>
          </a:p>
          <a:p>
            <a:pPr>
              <a:defRPr sz="950" b="1">
                <a:solidFill>
                  <a:srgbClr val="F8FAFC"/>
                </a:solidFill>
                <a:latin typeface="Segoe UI"/>
              </a:defRPr>
            </a:pPr>
            <a:r>
              <a:t>• Zero-PII Compliance Audit</a:t>
            </a:r>
          </a:p>
          <a:p>
            <a:pPr>
              <a:spcAft>
                <a:spcPts val="500"/>
              </a:spcAft>
              <a:defRPr sz="850">
                <a:solidFill>
                  <a:srgbClr val="94A3B8"/>
                </a:solidFill>
                <a:latin typeface="Segoe UI"/>
              </a:defRPr>
            </a:pPr>
            <a:r>
              <a:t>Tamper-evident audit ledger logging metrics without cleartext</a:t>
            </a:r>
          </a:p>
        </p:txBody>
      </p:sp>
      <p:sp>
        <p:nvSpPr>
          <p:cNvPr id="8" name="Rounded Rectangle 7"/>
          <p:cNvSpPr/>
          <p:nvPr/>
        </p:nvSpPr>
        <p:spPr>
          <a:xfrm>
            <a:off x="6181344" y="1645920"/>
            <a:ext cx="2542032" cy="3931920"/>
          </a:xfrm>
          <a:prstGeom prst="roundRect">
            <a:avLst/>
          </a:prstGeom>
          <a:solidFill>
            <a:srgbClr val="1E293B"/>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spcAft>
                <a:spcPts val="1000"/>
              </a:spcAft>
              <a:defRPr sz="1100" b="1">
                <a:solidFill>
                  <a:srgbClr val="A855F7"/>
                </a:solidFill>
                <a:latin typeface="Segoe UI"/>
              </a:defRPr>
            </a:pPr>
            <a:r>
              <a:t>AI &amp; ADVERSARIAL DEFENSE</a:t>
            </a:r>
          </a:p>
          <a:p>
            <a:pPr>
              <a:defRPr sz="950" b="1">
                <a:solidFill>
                  <a:srgbClr val="F8FAFC"/>
                </a:solidFill>
                <a:latin typeface="Segoe UI"/>
              </a:defRPr>
            </a:pPr>
            <a:r>
              <a:t>• Context-Aware Semantic NLP</a:t>
            </a:r>
          </a:p>
          <a:p>
            <a:pPr>
              <a:spcAft>
                <a:spcPts val="500"/>
              </a:spcAft>
              <a:defRPr sz="850">
                <a:solidFill>
                  <a:srgbClr val="94A3B8"/>
                </a:solidFill>
                <a:latin typeface="Segoe UI"/>
              </a:defRPr>
            </a:pPr>
            <a:r>
              <a:t>Disambiguates PINs vs calendar years, suppresses stopwords</a:t>
            </a:r>
          </a:p>
          <a:p>
            <a:pPr>
              <a:defRPr sz="950" b="1">
                <a:solidFill>
                  <a:srgbClr val="F8FAFC"/>
                </a:solidFill>
                <a:latin typeface="Segoe UI"/>
              </a:defRPr>
            </a:pPr>
            <a:r>
              <a:t>• Google Gemini Free-Tier AI</a:t>
            </a:r>
          </a:p>
          <a:p>
            <a:pPr>
              <a:spcAft>
                <a:spcPts val="500"/>
              </a:spcAft>
              <a:defRPr sz="850">
                <a:solidFill>
                  <a:srgbClr val="94A3B8"/>
                </a:solidFill>
                <a:latin typeface="Segoe UI"/>
              </a:defRPr>
            </a:pPr>
            <a:r>
              <a:t>Semantic intent classification and fallback entity recognition</a:t>
            </a:r>
          </a:p>
          <a:p>
            <a:pPr>
              <a:defRPr sz="950" b="1">
                <a:solidFill>
                  <a:srgbClr val="F8FAFC"/>
                </a:solidFill>
                <a:latin typeface="Segoe UI"/>
              </a:defRPr>
            </a:pPr>
            <a:r>
              <a:t>• Adversarial Evasion Cleaner</a:t>
            </a:r>
          </a:p>
          <a:p>
            <a:pPr>
              <a:spcAft>
                <a:spcPts val="500"/>
              </a:spcAft>
              <a:defRPr sz="850">
                <a:solidFill>
                  <a:srgbClr val="94A3B8"/>
                </a:solidFill>
                <a:latin typeface="Segoe UI"/>
              </a:defRPr>
            </a:pPr>
            <a:r>
              <a:t>Unicode NFKC normalization, strips \u200B zero-width characters</a:t>
            </a:r>
          </a:p>
          <a:p>
            <a:pPr>
              <a:defRPr sz="950" b="1">
                <a:solidFill>
                  <a:srgbClr val="F8FAFC"/>
                </a:solidFill>
                <a:latin typeface="Segoe UI"/>
              </a:defRPr>
            </a:pPr>
            <a:r>
              <a:t>• Base64 Smuggle Decoder</a:t>
            </a:r>
          </a:p>
          <a:p>
            <a:pPr>
              <a:spcAft>
                <a:spcPts val="500"/>
              </a:spcAft>
              <a:defRPr sz="850">
                <a:solidFill>
                  <a:srgbClr val="94A3B8"/>
                </a:solidFill>
                <a:latin typeface="Segoe UI"/>
              </a:defRPr>
            </a:pPr>
            <a:r>
              <a:t>Detects and unpacks hidden payloads inside nested arguments</a:t>
            </a:r>
          </a:p>
        </p:txBody>
      </p:sp>
      <p:sp>
        <p:nvSpPr>
          <p:cNvPr id="9" name="Rounded Rectangle 8"/>
          <p:cNvSpPr/>
          <p:nvPr/>
        </p:nvSpPr>
        <p:spPr>
          <a:xfrm>
            <a:off x="8906256" y="1645920"/>
            <a:ext cx="2542032" cy="393192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spcAft>
                <a:spcPts val="1000"/>
              </a:spcAft>
              <a:defRPr sz="1100" b="1">
                <a:solidFill>
                  <a:srgbClr val="F59E0B"/>
                </a:solidFill>
                <a:latin typeface="Segoe UI"/>
              </a:defRPr>
            </a:pPr>
            <a:r>
              <a:t>API GATEWAY &amp; OBSERVABILITY</a:t>
            </a:r>
          </a:p>
          <a:p>
            <a:pPr>
              <a:defRPr sz="950" b="1">
                <a:solidFill>
                  <a:srgbClr val="F8FAFC"/>
                </a:solidFill>
                <a:latin typeface="Segoe UI"/>
              </a:defRPr>
            </a:pPr>
            <a:r>
              <a:t>• REST Microservice Gateway</a:t>
            </a:r>
          </a:p>
          <a:p>
            <a:pPr>
              <a:spcAft>
                <a:spcPts val="500"/>
              </a:spcAft>
              <a:defRPr sz="850">
                <a:solidFill>
                  <a:srgbClr val="94A3B8"/>
                </a:solidFill>
                <a:latin typeface="Segoe UI"/>
              </a:defRPr>
            </a:pPr>
            <a:r>
              <a:t>Flask API endpoints (/v1/intercept, /v1/restore, /v1/audit)</a:t>
            </a:r>
          </a:p>
          <a:p>
            <a:pPr>
              <a:defRPr sz="950" b="1">
                <a:solidFill>
                  <a:srgbClr val="F8FAFC"/>
                </a:solidFill>
                <a:latin typeface="Segoe UI"/>
              </a:defRPr>
            </a:pPr>
            <a:r>
              <a:t>• Zero-Code Python SDK</a:t>
            </a:r>
          </a:p>
          <a:p>
            <a:pPr>
              <a:spcAft>
                <a:spcPts val="500"/>
              </a:spcAft>
              <a:defRPr sz="850">
                <a:solidFill>
                  <a:srgbClr val="94A3B8"/>
                </a:solidFill>
                <a:latin typeface="Segoe UI"/>
              </a:defRPr>
            </a:pPr>
            <a:r>
              <a:t>@protect_tool decorator for seamless LangChain &amp; CrewAI agents</a:t>
            </a:r>
          </a:p>
          <a:p>
            <a:pPr>
              <a:defRPr sz="950" b="1">
                <a:solidFill>
                  <a:srgbClr val="F8FAFC"/>
                </a:solidFill>
                <a:latin typeface="Segoe UI"/>
              </a:defRPr>
            </a:pPr>
            <a:r>
              <a:t>• Streamlit Liquid Glass UI</a:t>
            </a:r>
          </a:p>
          <a:p>
            <a:pPr>
              <a:spcAft>
                <a:spcPts val="500"/>
              </a:spcAft>
              <a:defRPr sz="850">
                <a:solidFill>
                  <a:srgbClr val="94A3B8"/>
                </a:solidFill>
                <a:latin typeface="Segoe UI"/>
              </a:defRPr>
            </a:pPr>
            <a:r>
              <a:t>Real-time interactive dashboard with 3-column wire auditor</a:t>
            </a:r>
          </a:p>
          <a:p>
            <a:pPr>
              <a:defRPr sz="950" b="1">
                <a:solidFill>
                  <a:srgbClr val="F8FAFC"/>
                </a:solidFill>
                <a:latin typeface="Segoe UI"/>
              </a:defRPr>
            </a:pPr>
            <a:r>
              <a:t>• Automated Test Matrix</a:t>
            </a:r>
          </a:p>
          <a:p>
            <a:pPr>
              <a:spcAft>
                <a:spcPts val="500"/>
              </a:spcAft>
              <a:defRPr sz="850">
                <a:solidFill>
                  <a:srgbClr val="94A3B8"/>
                </a:solidFill>
                <a:latin typeface="Segoe UI"/>
              </a:defRPr>
            </a:pPr>
            <a:r>
              <a:t>333+ automated unit &amp; integration tests (100% pass rate)</a:t>
            </a:r>
          </a:p>
        </p:txBody>
      </p:sp>
      <p:sp>
        <p:nvSpPr>
          <p:cNvPr id="10" name="Rounded Rectangle 9"/>
          <p:cNvSpPr/>
          <p:nvPr/>
        </p:nvSpPr>
        <p:spPr>
          <a:xfrm>
            <a:off x="731520" y="5760720"/>
            <a:ext cx="10728655" cy="73152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lIns="228600"/>
          <a:lstStyle/>
          <a:p>
            <a:pPr algn="ctr">
              <a:defRPr sz="1000" b="1">
                <a:solidFill>
                  <a:srgbClr val="38BDF8"/>
                </a:solidFill>
                <a:latin typeface="Segoe UI"/>
              </a:defRPr>
            </a:pPr>
            <a:r>
              <a:t>STACK ARCHITECTURAL PRINCIPLE: </a:t>
            </a:r>
            <a:r>
              <a:rPr b="0">
                <a:solidFill>
                  <a:srgbClr val="F8FAFC"/>
                </a:solidFill>
              </a:rPr>
              <a:t>Ultra-Fast, Offline-Capable, and Zero-Trust Native. Operates as a lightweight self-contained gateway without heavy external dependencies, adding only ~1.2 ms overhead while providing mathematical guarantees of zero PII leakage.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