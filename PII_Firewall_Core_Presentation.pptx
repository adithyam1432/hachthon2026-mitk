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Problem Statement</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Privacy and Credential Leakage in Autonomous AI Agent Workflows</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spcAft>
                <a:spcPts val="400"/>
              </a:spcAft>
              <a:defRPr sz="1400" b="1">
                <a:solidFill>
                  <a:srgbClr val="000000"/>
                </a:solidFill>
                <a:latin typeface="Times New Roman"/>
              </a:defRPr>
            </a:pPr>
            <a:r>
              <a:rPr sz="1400" b="1">
                <a:solidFill>
                  <a:srgbClr val="000000"/>
                </a:solidFill>
                <a:latin typeface="Times New Roman"/>
              </a:rPr>
              <a:t>Problem Statement:</a:t>
            </a:r>
          </a:p>
          <a:p>
            <a:pPr>
              <a:spcAft>
                <a:spcPts val="1600"/>
              </a:spcAft>
              <a:defRPr sz="1200" b="0">
                <a:solidFill>
                  <a:srgbClr val="000000"/>
                </a:solidFill>
                <a:latin typeface="Times New Roman"/>
              </a:defRPr>
            </a:pPr>
            <a:r>
              <a:rPr sz="1200" b="0">
                <a:solidFill>
                  <a:srgbClr val="000000"/>
                </a:solidFill>
                <a:latin typeface="Times New Roman"/>
              </a:rPr>
              <a:t>Autonomous AI agents executing third-party tool calls (Email, CRM, Payment APIs, Databases) frequently transmit unredacted personal information, financial identifiers, and credentials directly over the network wire, causing severe data privacy breaches and regulatory non-compliance.</a:t>
            </a:r>
          </a:p>
          <a:p>
            <a:pPr>
              <a:spcAft>
                <a:spcPts val="800"/>
              </a:spcAft>
              <a:defRPr sz="1400" b="1">
                <a:solidFill>
                  <a:srgbClr val="000000"/>
                </a:solidFill>
                <a:latin typeface="Times New Roman"/>
              </a:defRPr>
            </a:pPr>
            <a:r>
              <a:rPr sz="1400" b="1">
                <a:solidFill>
                  <a:srgbClr val="000000"/>
                </a:solidFill>
                <a:latin typeface="Times New Roman"/>
              </a:rPr>
              <a:t>Critical Pain Points:</a:t>
            </a:r>
          </a:p>
          <a:p>
            <a:pPr>
              <a:spcAft>
                <a:spcPts val="1000"/>
              </a:spcAft>
            </a:pPr>
            <a:r>
              <a:rPr sz="1200" b="1">
                <a:solidFill>
                  <a:srgbClr val="000000"/>
                </a:solidFill>
                <a:latin typeface="Times New Roman"/>
              </a:rPr>
              <a:t>• Direct PII Exposure: </a:t>
            </a:r>
            <a:r>
              <a:rPr sz="1200" b="0">
                <a:solidFill>
                  <a:srgbClr val="000000"/>
                </a:solidFill>
                <a:latin typeface="Times New Roman"/>
              </a:rPr>
              <a:t>Customer names, phone numbers, emails, SSNs, and credit cards are forwarded in cleartext to external API providers and stored in third-party logs.</a:t>
            </a:r>
          </a:p>
          <a:p>
            <a:pPr>
              <a:spcAft>
                <a:spcPts val="1000"/>
              </a:spcAft>
            </a:pPr>
            <a:r>
              <a:rPr sz="1200" b="1">
                <a:solidFill>
                  <a:srgbClr val="000000"/>
                </a:solidFill>
                <a:latin typeface="Times New Roman"/>
              </a:rPr>
              <a:t>• Adversarial Evasion: </a:t>
            </a:r>
            <a:r>
              <a:rPr sz="1200" b="0">
                <a:solidFill>
                  <a:srgbClr val="000000"/>
                </a:solidFill>
                <a:latin typeface="Times New Roman"/>
              </a:rPr>
              <a:t>Prompt injection techniques bypass traditional regex filters using invisible zero-width Unicode characters (\u200B), Base64 encoding, and character delimiters.</a:t>
            </a:r>
          </a:p>
          <a:p>
            <a:pPr>
              <a:spcAft>
                <a:spcPts val="1000"/>
              </a:spcAft>
            </a:pPr>
            <a:r>
              <a:rPr sz="1200" b="1">
                <a:solidFill>
                  <a:srgbClr val="000000"/>
                </a:solidFill>
                <a:latin typeface="Times New Roman"/>
              </a:rPr>
              <a:t>• High Latency &amp; Broken Tools: </a:t>
            </a:r>
            <a:r>
              <a:rPr sz="1200" b="0">
                <a:solidFill>
                  <a:srgbClr val="000000"/>
                </a:solidFill>
                <a:latin typeface="Times New Roman"/>
              </a:rPr>
              <a:t>Conventional cloud DLP gateways introduce 200–500 ms delays, while irreversible redaction breaks downstream API arguments and corrupts agent workflows.</a:t>
            </a:r>
          </a:p>
          <a:p>
            <a:pPr>
              <a:spcAft>
                <a:spcPts val="1000"/>
              </a:spcAft>
            </a:pPr>
            <a:r>
              <a:rPr sz="1200" b="1">
                <a:solidFill>
                  <a:srgbClr val="000000"/>
                </a:solidFill>
                <a:latin typeface="Times New Roman"/>
              </a:rPr>
              <a:t>• Severe Regulatory Liability: </a:t>
            </a:r>
            <a:r>
              <a:rPr sz="1200" b="0">
                <a:solidFill>
                  <a:srgbClr val="000000"/>
                </a:solidFill>
                <a:latin typeface="Times New Roman"/>
              </a:rPr>
              <a:t>Unauthorized personal data transmission violates GDPR, HIPAA, and DPDP Act 2023 mandates, exposing enterprises to substantial legal fines.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Proposed Solution</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PII Firewall for AI Agents: Zero-Trust Inline Privacy Middleware</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spcAft>
                <a:spcPts val="400"/>
              </a:spcAft>
              <a:defRPr sz="1400" b="1">
                <a:solidFill>
                  <a:srgbClr val="000000"/>
                </a:solidFill>
                <a:latin typeface="Times New Roman"/>
              </a:defRPr>
            </a:pPr>
            <a:r>
              <a:rPr sz="1400" b="1">
                <a:solidFill>
                  <a:srgbClr val="000000"/>
                </a:solidFill>
                <a:latin typeface="Times New Roman"/>
              </a:rPr>
              <a:t>Solution Overview:</a:t>
            </a:r>
          </a:p>
          <a:p>
            <a:pPr>
              <a:spcAft>
                <a:spcPts val="1600"/>
              </a:spcAft>
              <a:defRPr sz="1200" b="0">
                <a:solidFill>
                  <a:srgbClr val="000000"/>
                </a:solidFill>
                <a:latin typeface="Times New Roman"/>
              </a:defRPr>
            </a:pPr>
            <a:r>
              <a:rPr sz="1200" b="0">
                <a:solidFill>
                  <a:srgbClr val="000000"/>
                </a:solidFill>
                <a:latin typeface="Times New Roman"/>
              </a:rPr>
              <a:t>An ultra-low-latency inline security middleware that intercepts agent tool calls, replaces sensitive values with cryptographically salted reversible tokens, mathematically verifies zero residual leakage before transmission, and losslessly restores responses into agent memory.</a:t>
            </a:r>
          </a:p>
          <a:p>
            <a:pPr>
              <a:spcAft>
                <a:spcPts val="800"/>
              </a:spcAft>
              <a:defRPr sz="1400" b="1">
                <a:solidFill>
                  <a:srgbClr val="000000"/>
                </a:solidFill>
                <a:latin typeface="Times New Roman"/>
              </a:defRPr>
            </a:pPr>
            <a:r>
              <a:rPr sz="1400" b="1">
                <a:solidFill>
                  <a:srgbClr val="000000"/>
                </a:solidFill>
                <a:latin typeface="Times New Roman"/>
              </a:rPr>
              <a:t>Core Architectural Principles:</a:t>
            </a:r>
          </a:p>
          <a:p>
            <a:pPr>
              <a:spcAft>
                <a:spcPts val="1000"/>
              </a:spcAft>
            </a:pPr>
            <a:r>
              <a:rPr sz="1200" b="1">
                <a:solidFill>
                  <a:srgbClr val="000000"/>
                </a:solidFill>
                <a:latin typeface="Times New Roman"/>
              </a:rPr>
              <a:t>• Inline Gateway Interception: </a:t>
            </a:r>
            <a:r>
              <a:rPr sz="1200" b="0">
                <a:solidFill>
                  <a:srgbClr val="000000"/>
                </a:solidFill>
                <a:latin typeface="Times New Roman"/>
              </a:rPr>
              <a:t>Inspects tool calls transparently via Python decorators or REST microservice proxy without modifying underlying tool logic.</a:t>
            </a:r>
          </a:p>
          <a:p>
            <a:pPr>
              <a:spcAft>
                <a:spcPts val="1000"/>
              </a:spcAft>
            </a:pPr>
            <a:r>
              <a:rPr sz="1200" b="1">
                <a:solidFill>
                  <a:srgbClr val="000000"/>
                </a:solidFill>
                <a:latin typeface="Times New Roman"/>
              </a:rPr>
              <a:t>• Reversible Salted Tokenization: </a:t>
            </a:r>
            <a:r>
              <a:rPr sz="1200" b="0">
                <a:solidFill>
                  <a:srgbClr val="000000"/>
                </a:solidFill>
                <a:latin typeface="Times New Roman"/>
              </a:rPr>
              <a:t>Replaces sensitive data with opaque tokens ([TYPE_hash8]) using a unique 128-bit cryptographic salt per request.</a:t>
            </a:r>
          </a:p>
          <a:p>
            <a:pPr>
              <a:spcAft>
                <a:spcPts val="1000"/>
              </a:spcAft>
            </a:pPr>
            <a:r>
              <a:rPr sz="1200" b="1">
                <a:solidFill>
                  <a:srgbClr val="000000"/>
                </a:solidFill>
                <a:latin typeface="Times New Roman"/>
              </a:rPr>
              <a:t>• Ephemeral Volatile Vault: </a:t>
            </a:r>
            <a:r>
              <a:rPr sz="1200" b="0">
                <a:solidFill>
                  <a:srgbClr val="000000"/>
                </a:solidFill>
                <a:latin typeface="Times New Roman"/>
              </a:rPr>
              <a:t>Token mapping tables exist strictly in volatile RAM for the duration of the request and are never written to disk or logs.</a:t>
            </a:r>
          </a:p>
          <a:p>
            <a:pPr>
              <a:spcAft>
                <a:spcPts val="1000"/>
              </a:spcAft>
            </a:pPr>
            <a:r>
              <a:rPr sz="1200" b="1">
                <a:solidFill>
                  <a:srgbClr val="000000"/>
                </a:solidFill>
                <a:latin typeface="Times New Roman"/>
              </a:rPr>
              <a:t>• Fail-Closed Leakage Verification: </a:t>
            </a:r>
            <a:r>
              <a:rPr sz="1200" b="0">
                <a:solidFill>
                  <a:srgbClr val="000000"/>
                </a:solidFill>
                <a:latin typeface="Times New Roman"/>
              </a:rPr>
              <a:t>Performs a full serialized wire packet scan against detected secrets before dispatch, guaranteeing 0.0% residual cleartext leakage.</a:t>
            </a:r>
          </a:p>
          <a:p>
            <a:pPr>
              <a:spcAft>
                <a:spcPts val="1000"/>
              </a:spcAft>
            </a:pPr>
            <a:r>
              <a:rPr sz="1200" b="1">
                <a:solidFill>
                  <a:srgbClr val="000000"/>
                </a:solidFill>
                <a:latin typeface="Times New Roman"/>
              </a:rPr>
              <a:t>• Lossless Context Re-Hydration: </a:t>
            </a:r>
            <a:r>
              <a:rPr sz="1200" b="0">
                <a:solidFill>
                  <a:srgbClr val="000000"/>
                </a:solidFill>
                <a:latin typeface="Times New Roman"/>
              </a:rPr>
              <a:t>Transparently swaps echoed tokens back to original values in agent memory and purges temporary vault RAM to zero bytes.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Key Features</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Core Security, Detection, and Performance Capabilities</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spcAft>
                <a:spcPts val="800"/>
              </a:spcAft>
              <a:defRPr sz="1400" b="1">
                <a:solidFill>
                  <a:srgbClr val="000000"/>
                </a:solidFill>
                <a:latin typeface="Times New Roman"/>
              </a:defRPr>
            </a:pPr>
            <a:r>
              <a:rPr sz="1400" b="1">
                <a:solidFill>
                  <a:srgbClr val="000000"/>
                </a:solidFill>
                <a:latin typeface="Times New Roman"/>
              </a:rPr>
              <a:t>System Capabilities:</a:t>
            </a:r>
          </a:p>
          <a:p>
            <a:pPr>
              <a:spcAft>
                <a:spcPts val="900"/>
              </a:spcAft>
            </a:pPr>
            <a:r>
              <a:rPr sz="1200" b="1">
                <a:solidFill>
                  <a:srgbClr val="000000"/>
                </a:solidFill>
                <a:latin typeface="Times New Roman"/>
              </a:rPr>
              <a:t>• Hybrid Multi-Modal Detection: </a:t>
            </a:r>
            <a:r>
              <a:rPr sz="1200" b="0">
                <a:solidFill>
                  <a:srgbClr val="000000"/>
                </a:solidFill>
                <a:latin typeface="Times New Roman"/>
              </a:rPr>
              <a:t>Combines RFC regex, mathematical checksum algorithms (Luhn Mod-10 for credit cards, UIDAI Verhoeff for Aadhaar), and context-aware NLP heuristics.</a:t>
            </a:r>
          </a:p>
          <a:p>
            <a:pPr>
              <a:spcAft>
                <a:spcPts val="900"/>
              </a:spcAft>
            </a:pPr>
            <a:r>
              <a:rPr sz="1200" b="1">
                <a:solidFill>
                  <a:srgbClr val="000000"/>
                </a:solidFill>
                <a:latin typeface="Times New Roman"/>
              </a:rPr>
              <a:t>• 3-Tier Security Policy Engine: </a:t>
            </a:r>
            <a:r>
              <a:rPr sz="1200" b="0">
                <a:solidFill>
                  <a:srgbClr val="000000"/>
                </a:solidFill>
                <a:latin typeface="Times New Roman"/>
              </a:rPr>
              <a:t>Enforces mandatory Zero-Trust rules: Tier 1 Credentials (PIN, CVV, OTP, Passwords) are hard-blocked; Tier 2 Personal Info is tokenized; Tier 3 Business data requires destination approval.</a:t>
            </a:r>
          </a:p>
          <a:p>
            <a:pPr>
              <a:spcAft>
                <a:spcPts val="900"/>
              </a:spcAft>
            </a:pPr>
            <a:r>
              <a:rPr sz="1200" b="1">
                <a:solidFill>
                  <a:srgbClr val="000000"/>
                </a:solidFill>
                <a:latin typeface="Times New Roman"/>
              </a:rPr>
              <a:t>• Adversarial Attack Defense: </a:t>
            </a:r>
            <a:r>
              <a:rPr sz="1200" b="0">
                <a:solidFill>
                  <a:srgbClr val="000000"/>
                </a:solidFill>
                <a:latin typeface="Times New Roman"/>
              </a:rPr>
              <a:t>Normalizes Unicode NFKC, strips hidden zero-width characters (\u200B), and decodes Base64-smuggled strings to defeat prompt injection bypasses.</a:t>
            </a:r>
          </a:p>
          <a:p>
            <a:pPr>
              <a:spcAft>
                <a:spcPts val="900"/>
              </a:spcAft>
            </a:pPr>
            <a:r>
              <a:rPr sz="1200" b="1">
                <a:solidFill>
                  <a:srgbClr val="000000"/>
                </a:solidFill>
                <a:latin typeface="Times New Roman"/>
              </a:rPr>
              <a:t>• Hardware Layer 2 Binding: </a:t>
            </a:r>
            <a:r>
              <a:rPr sz="1200" b="0">
                <a:solidFill>
                  <a:srgbClr val="000000"/>
                </a:solidFill>
                <a:latin typeface="Times New Roman"/>
              </a:rPr>
              <a:t>Pins requests to client MAC addresses, integrating with IEEE 802.1AE MACsec for OSI Data Link Layer defense-in-depth.</a:t>
            </a:r>
          </a:p>
          <a:p>
            <a:pPr>
              <a:spcAft>
                <a:spcPts val="900"/>
              </a:spcAft>
            </a:pPr>
            <a:r>
              <a:rPr sz="1200" b="1">
                <a:solidFill>
                  <a:srgbClr val="000000"/>
                </a:solidFill>
                <a:latin typeface="Times New Roman"/>
              </a:rPr>
              <a:t>• Zero-Code Integration: </a:t>
            </a:r>
            <a:r>
              <a:rPr sz="1200" b="0">
                <a:solidFill>
                  <a:srgbClr val="000000"/>
                </a:solidFill>
                <a:latin typeface="Times New Roman"/>
              </a:rPr>
              <a:t>Provides a simple @protect_tool Python decorator for LangChain, CrewAI, and AutoGen agents, alongside standard REST endpoints (/v1/intercept, /v1/restore).</a:t>
            </a:r>
          </a:p>
          <a:p>
            <a:pPr>
              <a:spcAft>
                <a:spcPts val="900"/>
              </a:spcAft>
            </a:pPr>
            <a:r>
              <a:rPr sz="1200" b="1">
                <a:solidFill>
                  <a:srgbClr val="000000"/>
                </a:solidFill>
                <a:latin typeface="Times New Roman"/>
              </a:rPr>
              <a:t>• Zero-PII Compliance Audit: </a:t>
            </a:r>
            <a:r>
              <a:rPr sz="1200" b="0">
                <a:solidFill>
                  <a:srgbClr val="000000"/>
                </a:solidFill>
                <a:latin typeface="Times New Roman"/>
              </a:rPr>
              <a:t>Generates tamper-evident SHA-256 compliance logs recording request metrics and timestamps with zero cleartext personal data stored.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Implementation</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End-to-End Execution Pipeline and System Architecture</a:t>
            </a:r>
          </a:p>
        </p:txBody>
      </p:sp>
      <p:pic>
        <p:nvPicPr>
          <p:cNvPr id="5" name="Picture 4" descr="system_flow_design_white.png"/>
          <p:cNvPicPr>
            <a:picLocks noChangeAspect="1"/>
          </p:cNvPicPr>
          <p:nvPr/>
        </p:nvPicPr>
        <p:blipFill>
          <a:blip r:embed="rId2"/>
          <a:stretch>
            <a:fillRect/>
          </a:stretch>
        </p:blipFill>
        <p:spPr>
          <a:xfrm>
            <a:off x="731520" y="1280160"/>
            <a:ext cx="10728655" cy="4251960"/>
          </a:xfrm>
          <a:prstGeom prst="rect">
            <a:avLst/>
          </a:prstGeom>
        </p:spPr>
      </p:pic>
      <p:sp>
        <p:nvSpPr>
          <p:cNvPr id="6" name="Rounded Rectangle 5"/>
          <p:cNvSpPr/>
          <p:nvPr/>
        </p:nvSpPr>
        <p:spPr>
          <a:xfrm>
            <a:off x="731520" y="5650992"/>
            <a:ext cx="10728655" cy="868680"/>
          </a:xfrm>
          <a:prstGeom prst="roundRect">
            <a:avLst/>
          </a:prstGeom>
          <a:solidFill>
            <a:srgbClr val="FAFAFA"/>
          </a:solidFill>
          <a:ln w="1270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spcAft>
                <a:spcPts val="300"/>
              </a:spcAft>
              <a:defRPr sz="1200" b="0">
                <a:solidFill>
                  <a:srgbClr val="000000"/>
                </a:solidFill>
                <a:latin typeface="Times New Roman"/>
              </a:defRPr>
            </a:pPr>
            <a:r>
              <a:rPr sz="1200" b="0">
                <a:solidFill>
                  <a:srgbClr val="000000"/>
                </a:solidFill>
                <a:latin typeface="Times New Roman"/>
              </a:rPr>
              <a:t>• Execution Pipeline: Ingress tool call -&gt; Adversarial cleaning (\u200B stripped) -&gt; Hybrid detection matrix -&gt; 3-tier policy -&gt; 128-bit salted token vault -&gt; Pre-wire leakage verification (0.0% residual leak) -&gt; External tool execution -&gt; Lossless response re-hydration -&gt; RAM purge.</a:t>
            </a:r>
          </a:p>
          <a:p>
            <a:pPr>
              <a:defRPr sz="1200" b="0">
                <a:solidFill>
                  <a:srgbClr val="000000"/>
                </a:solidFill>
                <a:latin typeface="Times New Roman"/>
              </a:defRPr>
            </a:pPr>
            <a:r>
              <a:rPr sz="1200" b="0">
                <a:solidFill>
                  <a:srgbClr val="000000"/>
                </a:solidFill>
                <a:latin typeface="Times New Roman"/>
              </a:rPr>
              <a:t>• Tech Stack: Python 3.11+ runtime, ThreadPoolExecutor concurrent batching (&gt;2,500 req/s), Flask REST microservice, Streamlit interactive dashboard, and 333+ PyTest automated test battery.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384048"/>
          </a:xfrm>
          <a:prstGeom prst="rect">
            <a:avLst/>
          </a:prstGeom>
          <a:noFill/>
        </p:spPr>
        <p:txBody>
          <a:bodyPr wrap="square" lIns="0" tIns="0" rIns="0" bIns="0">
            <a:spAutoFit/>
          </a:bodyPr>
          <a:lstStyle/>
          <a:p>
            <a:pPr>
              <a:defRPr sz="1600" b="1">
                <a:solidFill>
                  <a:srgbClr val="000000"/>
                </a:solidFill>
                <a:latin typeface="Times New Roman"/>
              </a:defRPr>
            </a:pPr>
            <a:r>
              <a:rPr sz="1600" b="1">
                <a:solidFill>
                  <a:srgbClr val="000000"/>
                </a:solidFill>
                <a:latin typeface="Times New Roman"/>
              </a:rPr>
              <a:t>Outcome</a:t>
            </a:r>
          </a:p>
        </p:txBody>
      </p:sp>
      <p:sp>
        <p:nvSpPr>
          <p:cNvPr id="4" name="TextBox 3"/>
          <p:cNvSpPr txBox="1"/>
          <p:nvPr/>
        </p:nvSpPr>
        <p:spPr>
          <a:xfrm>
            <a:off x="731520" y="841248"/>
            <a:ext cx="10728655" cy="347472"/>
          </a:xfrm>
          <a:prstGeom prst="rect">
            <a:avLst/>
          </a:prstGeom>
          <a:noFill/>
        </p:spPr>
        <p:txBody>
          <a:bodyPr wrap="square" lIns="0" tIns="0" rIns="0" bIns="0">
            <a:spAutoFit/>
          </a:bodyPr>
          <a:lstStyle/>
          <a:p>
            <a:pPr>
              <a:defRPr sz="1400" b="1">
                <a:solidFill>
                  <a:srgbClr val="000000"/>
                </a:solidFill>
                <a:latin typeface="Times New Roman"/>
              </a:defRPr>
            </a:pPr>
            <a:r>
              <a:rPr sz="1400" b="1">
                <a:solidFill>
                  <a:srgbClr val="000000"/>
                </a:solidFill>
                <a:latin typeface="Times New Roman"/>
              </a:rPr>
              <a:t>Measured Performance Benchmarks, Security Guarantees, and Impact</a:t>
            </a:r>
          </a:p>
        </p:txBody>
      </p:sp>
      <p:sp>
        <p:nvSpPr>
          <p:cNvPr id="5" name="Rounded Rectangle 4"/>
          <p:cNvSpPr/>
          <p:nvPr/>
        </p:nvSpPr>
        <p:spPr>
          <a:xfrm>
            <a:off x="731520" y="1325880"/>
            <a:ext cx="10728655" cy="5029200"/>
          </a:xfrm>
          <a:prstGeom prst="roundRect">
            <a:avLst/>
          </a:prstGeom>
          <a:solidFill>
            <a:srgbClr val="FAFAFA"/>
          </a:solidFill>
          <a:ln w="15240">
            <a:solidFill>
              <a:srgbClr val="D2D7DC"/>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a:lstStyle/>
          <a:p>
            <a:pPr algn="ctr">
              <a:spcAft>
                <a:spcPts val="800"/>
              </a:spcAft>
              <a:defRPr sz="1400" b="1">
                <a:solidFill>
                  <a:srgbClr val="000000"/>
                </a:solidFill>
                <a:latin typeface="Times New Roman"/>
              </a:defRPr>
            </a:pPr>
            <a:r>
              <a:rPr sz="1400" b="1">
                <a:solidFill>
                  <a:srgbClr val="000000"/>
                </a:solidFill>
                <a:latin typeface="Times New Roman"/>
              </a:rPr>
              <a:t>Verified Results and Impact:</a:t>
            </a:r>
          </a:p>
          <a:p>
            <a:pPr>
              <a:spcAft>
                <a:spcPts val="900"/>
              </a:spcAft>
            </a:pPr>
            <a:r>
              <a:rPr sz="1200" b="1">
                <a:solidFill>
                  <a:srgbClr val="000000"/>
                </a:solidFill>
                <a:latin typeface="Times New Roman"/>
              </a:rPr>
              <a:t>• Zero Data Leakage (0.0%): </a:t>
            </a:r>
            <a:r>
              <a:rPr sz="1200" b="0">
                <a:solidFill>
                  <a:srgbClr val="000000"/>
                </a:solidFill>
                <a:latin typeface="Times New Roman"/>
              </a:rPr>
              <a:t>Verified that 0 bytes of cleartext PII or credentials ever reach external tools or network wires during simulated and live API executions.</a:t>
            </a:r>
          </a:p>
          <a:p>
            <a:pPr>
              <a:spcAft>
                <a:spcPts val="900"/>
              </a:spcAft>
            </a:pPr>
            <a:r>
              <a:rPr sz="1200" b="1">
                <a:solidFill>
                  <a:srgbClr val="000000"/>
                </a:solidFill>
                <a:latin typeface="Times New Roman"/>
              </a:rPr>
              <a:t>• Sub-Millisecond Processing Latency (~1.2 ms): </a:t>
            </a:r>
            <a:r>
              <a:rPr sz="1200" b="0">
                <a:solidFill>
                  <a:srgbClr val="000000"/>
                </a:solidFill>
                <a:latin typeface="Times New Roman"/>
              </a:rPr>
              <a:t>Demonstrated an average overhead of ~1.2 ms per tool call, easily surpassing the &lt;25 ms SLA and adding less than 0.05% overhead to LLM workflows.</a:t>
            </a:r>
          </a:p>
          <a:p>
            <a:pPr>
              <a:spcAft>
                <a:spcPts val="900"/>
              </a:spcAft>
            </a:pPr>
            <a:r>
              <a:rPr sz="1200" b="1">
                <a:solidFill>
                  <a:srgbClr val="000000"/>
                </a:solidFill>
                <a:latin typeface="Times New Roman"/>
              </a:rPr>
              <a:t>• 100% Automated Test Pass Rate (333 / 333): </a:t>
            </a:r>
            <a:r>
              <a:rPr sz="1200" b="0">
                <a:solidFill>
                  <a:srgbClr val="000000"/>
                </a:solidFill>
                <a:latin typeface="Times New Roman"/>
              </a:rPr>
              <a:t>Comprehensive test battery successfully validated all edge cases, nested JSON structures, Indian KYC entities (PAN, Aadhaar), and adversarial attack vectors.</a:t>
            </a:r>
          </a:p>
          <a:p>
            <a:pPr>
              <a:spcAft>
                <a:spcPts val="900"/>
              </a:spcAft>
            </a:pPr>
            <a:r>
              <a:rPr sz="1200" b="1">
                <a:solidFill>
                  <a:srgbClr val="000000"/>
                </a:solidFill>
                <a:latin typeface="Times New Roman"/>
              </a:rPr>
              <a:t>• High Concurrent Throughput (&gt;2,500 req/sec): </a:t>
            </a:r>
            <a:r>
              <a:rPr sz="1200" b="0">
                <a:solidFill>
                  <a:srgbClr val="000000"/>
                </a:solidFill>
                <a:latin typeface="Times New Roman"/>
              </a:rPr>
              <a:t>Multi-threaded batch engine sustained over 2,500 requests per second across 50 concurrent worker threads without race conditions or memory leaks.</a:t>
            </a:r>
          </a:p>
          <a:p>
            <a:pPr>
              <a:spcAft>
                <a:spcPts val="900"/>
              </a:spcAft>
            </a:pPr>
            <a:r>
              <a:rPr sz="1200" b="1">
                <a:solidFill>
                  <a:srgbClr val="000000"/>
                </a:solidFill>
                <a:latin typeface="Times New Roman"/>
              </a:rPr>
              <a:t>• Strict Regulatory Compliance: </a:t>
            </a:r>
            <a:r>
              <a:rPr sz="1200" b="0">
                <a:solidFill>
                  <a:srgbClr val="000000"/>
                </a:solidFill>
                <a:latin typeface="Times New Roman"/>
              </a:rPr>
              <a:t>Guarantees complete legal and compliance safety under GDPR (Art. 6/9/32), HIPAA, PCI-DSS, and India DPDP Act 2023 with tamper-evident audit trails.</a:t>
            </a:r>
          </a:p>
          <a:p>
            <a:pPr>
              <a:spcAft>
                <a:spcPts val="900"/>
              </a:spcAft>
            </a:pPr>
            <a:r>
              <a:rPr sz="1200" b="1">
                <a:solidFill>
                  <a:srgbClr val="000000"/>
                </a:solidFill>
                <a:latin typeface="Times New Roman"/>
              </a:rPr>
              <a:t>• Lossless Workflow Fidelity (100.0%): </a:t>
            </a:r>
            <a:r>
              <a:rPr sz="1200" b="0">
                <a:solidFill>
                  <a:srgbClr val="000000"/>
                </a:solidFill>
                <a:latin typeface="Times New Roman"/>
              </a:rPr>
              <a:t>Maintains complete context retention in autonomous agent memory while wiping ephemeral vault RAM to zero residual bytes upon response.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