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56889"/>
                </a:solidFill>
                <a:latin typeface="Aptos"/>
              </a:rPr>
              <a:t>PROJECT PROTOTYPE  |  AI SECURITY &amp; DATA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91640"/>
            <a:ext cx="1069848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F3144"/>
                </a:solidFill>
                <a:latin typeface="Aptos"/>
              </a:rPr>
              <a:t>PII Firewall for
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9966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313A42"/>
                </a:solidFill>
                <a:latin typeface="Aptos"/>
              </a:rPr>
              <a:t>A policy-based security layer that reduces unnecessary and unauthorized disclosure of personal data during agent-to-tool calls.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617720"/>
            <a:ext cx="50292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500"/>
              </a:spcAft>
              <a:defRPr sz="1200" b="1">
                <a:solidFill>
                  <a:srgbClr val="5D6A75"/>
                </a:solidFill>
                <a:latin typeface="Aptos"/>
              </a:defRPr>
            </a:pPr>
            <a:r>
              <a:t>Core idea</a:t>
            </a:r>
          </a:p>
          <a:p>
            <a:pPr>
              <a:spcAft>
                <a:spcPts val="500"/>
              </a:spcAft>
              <a:defRPr sz="1700" b="1">
                <a:solidFill>
                  <a:srgbClr val="1F3144"/>
                </a:solidFill>
                <a:latin typeface="Aptos"/>
              </a:defRPr>
            </a:pPr>
            <a:r>
              <a:t>Detect PII  →  Evaluate policy  →  Allow, redact or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A75"/>
                </a:solidFill>
                <a:latin typeface="Aptos"/>
              </a:rPr>
              <a:t>Prototype proposal • Synthetic data only • Local simulated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AI agents can pass more personal information to tools than the task actually requires.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 bIns="219456"/>
          <a:lstStyle/>
          <a:p>
            <a:pPr algn="ctr"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Example: hospital search</a:t>
            </a:r>
          </a:p>
          <a:p>
            <a:pPr>
              <a:spcAft>
                <a:spcPts val="500"/>
              </a:spcAft>
              <a:defRPr sz="1700" b="0">
                <a:solidFill>
                  <a:srgbClr val="313A42"/>
                </a:solidFill>
                <a:latin typeface="Aptos"/>
              </a:defRPr>
            </a:pPr>
            <a:r>
              <a:t>User asks: “Find hospitals near Hubballi.”</a:t>
            </a:r>
          </a:p>
          <a:p>
            <a:pPr>
              <a:spcAft>
                <a:spcPts val="500"/>
              </a:spcAft>
              <a:defRPr sz="1400" b="0">
                <a:solidFill>
                  <a:srgbClr val="5D6A75"/>
                </a:solidFill>
                <a:latin typeface="Aptos"/>
              </a:defRPr>
            </a:pPr>
            <a:r>
              <a:t>The agent's context may also contain: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• Name • Email • Phone • Identity details</a:t>
            </a:r>
          </a:p>
          <a:p>
            <a:pPr>
              <a:spcAft>
                <a:spcPts val="500"/>
              </a:spcAft>
              <a:defRPr sz="1300" b="1">
                <a:solidFill>
                  <a:srgbClr val="974C4C"/>
                </a:solidFill>
                <a:latin typeface="Aptos"/>
              </a:defRPr>
            </a:pPr>
            <a:r>
              <a:t>Risk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A search tool receives unrelated personal data, increasing exposure and retention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257800" cy="361188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 bIns="219456"/>
          <a:lstStyle/>
          <a:p>
            <a:pPr algn="ctr"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Our objective</a:t>
            </a:r>
          </a:p>
          <a:p>
            <a:pPr>
              <a:spcAft>
                <a:spcPts val="500"/>
              </a:spcAft>
              <a:defRPr sz="1900" b="1">
                <a:solidFill>
                  <a:srgbClr val="313A42"/>
                </a:solidFill>
                <a:latin typeface="Aptos"/>
              </a:defRPr>
            </a:pPr>
            <a:r>
              <a:t>Minimize unnecessary disclosure without breaking legitimate tool functionality.</a:t>
            </a:r>
          </a:p>
          <a:p>
            <a:pPr>
              <a:spcAft>
                <a:spcPts val="500"/>
              </a:spcAft>
              <a:defRPr sz="1400" b="0">
                <a:solidFill>
                  <a:srgbClr val="5D6A75"/>
                </a:solidFill>
                <a:latin typeface="Aptos"/>
              </a:defRPr>
            </a:pPr>
            <a:r>
              <a:t>The firewall should: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• Inspect outgoing requests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• Apply tool-specific policies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• Protect or block unauthorized fields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• Verify the actual outbound payload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698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56889"/>
                </a:solidFill>
                <a:latin typeface="Aptos"/>
              </a:rPr>
              <a:t>Important: PII is not automatically forbidden. The destination, purpose, authorization and minimum required data determine the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2. Prototype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A small, testable setup that demonstrates real interception without requiring paid APIs.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46120" cy="2148840"/>
          </a:xfrm>
          <a:prstGeom prst="roundRect">
            <a:avLst/>
          </a:prstGeom>
          <a:solidFill>
            <a:srgbClr val="E7EEF4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500"/>
              </a:spcAft>
              <a:defRPr sz="1700" b="1">
                <a:solidFill>
                  <a:srgbClr val="1F3144"/>
                </a:solidFill>
                <a:latin typeface="Aptos"/>
              </a:defRPr>
            </a:pPr>
            <a:r>
              <a:t>AI agents</a:t>
            </a:r>
          </a:p>
          <a:p>
            <a:pPr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1 primary customer-support agent</a:t>
            </a:r>
            <a:br/>
            <a:r>
              <a:t>Optional second document-analysis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828800"/>
            <a:ext cx="3246120" cy="2148840"/>
          </a:xfrm>
          <a:prstGeom prst="roundRect">
            <a:avLst/>
          </a:prstGeom>
          <a:solidFill>
            <a:srgbClr val="E9F1EC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500"/>
              </a:spcAft>
              <a:defRPr sz="1700" b="1">
                <a:solidFill>
                  <a:srgbClr val="1F3144"/>
                </a:solidFill>
                <a:latin typeface="Aptos"/>
              </a:defRPr>
            </a:pPr>
            <a:r>
              <a:t>External tools</a:t>
            </a:r>
          </a:p>
          <a:p>
            <a:pPr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Mock web search</a:t>
            </a:r>
            <a:br/>
            <a:r>
              <a:t>Mock email sender</a:t>
            </a:r>
            <a:br/>
            <a:r>
              <a:t>Local customer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246120" cy="2148840"/>
          </a:xfrm>
          <a:prstGeom prst="roundRect">
            <a:avLst/>
          </a:prstGeom>
          <a:solidFill>
            <a:srgbClr val="F7F2E6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500"/>
              </a:spcAft>
              <a:defRPr sz="1700" b="1">
                <a:solidFill>
                  <a:srgbClr val="1F3144"/>
                </a:solidFill>
                <a:latin typeface="Aptos"/>
              </a:defRPr>
            </a:pPr>
            <a:r>
              <a:t>PII categories</a:t>
            </a:r>
          </a:p>
          <a:p>
            <a:pPr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Names, emails, phones</a:t>
            </a:r>
            <a:br/>
            <a:r>
              <a:t>Address and ID-like formats</a:t>
            </a:r>
            <a:br/>
            <a:r>
              <a:t>Sensitive fields and secrets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34840"/>
            <a:ext cx="101955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500"/>
              </a:spcAft>
              <a:defRPr sz="1400" b="1">
                <a:solidFill>
                  <a:srgbClr val="5D6A75"/>
                </a:solidFill>
                <a:latin typeface="Aptos"/>
              </a:defRPr>
            </a:pPr>
            <a:r>
              <a:t>Recommended implementation</a:t>
            </a:r>
          </a:p>
          <a:p>
            <a:pPr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Python + FastAPI • Presidio + custom rules • JSON policy registry • Pytest • React dashboard (after backend)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74C4C"/>
                </a:solidFill>
                <a:latin typeface="Aptos"/>
              </a:rPr>
              <a:t>Use synthetic examples only. Do not use real Aadhaar, PAN, bank or customer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Every tool call must pass through the same gateway; agents must not call tools directly.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00200"/>
            <a:ext cx="9966960" cy="603504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1.  AI agent   —   Creates a structured tool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50008"/>
            <a:ext cx="99669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2.  PII detector   —   Finds sensitive values in JSON and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99815"/>
            <a:ext cx="9966960" cy="603504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1">
                <a:solidFill>
                  <a:srgbClr val="1F3144"/>
                </a:solidFill>
                <a:latin typeface="Aptos"/>
              </a:defRPr>
            </a:pPr>
            <a:r>
              <a:t>3.  Policy engine   —   Checks tool, fields, purpose and authorization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849624"/>
            <a:ext cx="99669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4.  Token vault   —   Stores scoped mappings when tokenization is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599432"/>
            <a:ext cx="9966960" cy="603504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1">
                <a:solidFill>
                  <a:srgbClr val="1F3144"/>
                </a:solidFill>
                <a:latin typeface="Aptos"/>
              </a:defRPr>
            </a:pPr>
            <a:r>
              <a:t>5.  Outbound gateway   —   Revalidates and enforces the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349240"/>
            <a:ext cx="99669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6.  Tool + response handler   —   Executes tool; checks response and restores only when authorized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26364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74C4C"/>
                </a:solidFill>
                <a:latin typeface="Aptos"/>
              </a:rPr>
              <a:t>Fail closed: unknown tool, missing policy or detector failure → block outbound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4. How the firewall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A tool schema describes accepted inputs; policy defines what may be disclosed.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3337560"/>
          </a:xfrm>
          <a:prstGeom prst="roundRect">
            <a:avLst/>
          </a:prstGeom>
          <a:solidFill>
            <a:srgbClr val="E9F1EC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500"/>
              </a:spcAft>
              <a:defRPr sz="1800" b="1">
                <a:solidFill>
                  <a:srgbClr val="47705B"/>
                </a:solidFill>
                <a:latin typeface="Aptos"/>
              </a:defRPr>
            </a:pPr>
            <a:r>
              <a:t>ALLOW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Field is necessary for the operation, the destination is approved, and disclosure is authorized.</a:t>
            </a:r>
          </a:p>
          <a:p>
            <a:pPr>
              <a:spcAft>
                <a:spcPts val="500"/>
              </a:spcAft>
              <a:defRPr sz="1200" b="1">
                <a:solidFill>
                  <a:srgbClr val="5D6A75"/>
                </a:solidFill>
                <a:latin typeface="Aptos"/>
              </a:defRPr>
            </a:pPr>
            <a:r>
              <a:t>Example</a:t>
            </a:r>
          </a:p>
          <a:p>
            <a:pPr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Authorized recipient email for email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429000" cy="3337560"/>
          </a:xfrm>
          <a:prstGeom prst="roundRect">
            <a:avLst/>
          </a:prstGeom>
          <a:solidFill>
            <a:srgbClr val="E7EEF4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500"/>
              </a:spcAft>
              <a:defRPr sz="1800" b="1">
                <a:solidFill>
                  <a:srgbClr val="456889"/>
                </a:solidFill>
                <a:latin typeface="Aptos"/>
              </a:defRPr>
            </a:pPr>
            <a:r>
              <a:t>REDACT / TOKENIZE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Field is unnecessary, or a secure token can preserve the workflow without exposing the original value.</a:t>
            </a:r>
          </a:p>
          <a:p>
            <a:pPr>
              <a:spcAft>
                <a:spcPts val="500"/>
              </a:spcAft>
              <a:defRPr sz="1200" b="1">
                <a:solidFill>
                  <a:srgbClr val="5D6A75"/>
                </a:solidFill>
                <a:latin typeface="Aptos"/>
              </a:defRPr>
            </a:pPr>
            <a:r>
              <a:t>Example</a:t>
            </a:r>
          </a:p>
          <a:p>
            <a:pPr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Remove phone and identity details from a hospital search query.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691640"/>
            <a:ext cx="3429000" cy="3337560"/>
          </a:xfrm>
          <a:prstGeom prst="roundRect">
            <a:avLst/>
          </a:prstGeom>
          <a:solidFill>
            <a:srgbClr val="F7EBEB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500"/>
              </a:spcAft>
              <a:defRPr sz="1800" b="1">
                <a:solidFill>
                  <a:srgbClr val="974C4C"/>
                </a:solidFill>
                <a:latin typeface="Aptos"/>
              </a:defRPr>
            </a:pPr>
            <a:r>
              <a:t>BLOCK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Tool is unknown, policy is missing, or disclosure is prohibited or cannot be authorized.</a:t>
            </a:r>
          </a:p>
          <a:p>
            <a:pPr>
              <a:spcAft>
                <a:spcPts val="500"/>
              </a:spcAft>
              <a:defRPr sz="1200" b="1">
                <a:solidFill>
                  <a:srgbClr val="5D6A75"/>
                </a:solidFill>
                <a:latin typeface="Aptos"/>
              </a:defRPr>
            </a:pPr>
            <a:r>
              <a:t>Example</a:t>
            </a:r>
          </a:p>
          <a:p>
            <a:pPr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Unknown destination requests sensitive customer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10698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3144"/>
                </a:solidFill>
                <a:latin typeface="Aptos"/>
              </a:rPr>
              <a:t>Do not let an LLM alone authorize disclosure. Enforce decisions deterministically in the policy engine and gateway.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5. Example: outgoing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Synthetic data only. The firewall should inspect all nested values, not just known field names.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352044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200" b="1">
                <a:solidFill>
                  <a:srgbClr val="1F3144"/>
                </a:solidFill>
                <a:latin typeface="Aptos"/>
              </a:defRPr>
            </a:pPr>
            <a:r>
              <a:t>Incoming request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"tool": "web_search",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"query": "Hospitals near Hubballi",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"customer": {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  "email": "aarav@example.com",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  "phone": "9000000001",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  "aadhaar": "000000000000"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303520" cy="352044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73152"/>
          <a:lstStyle/>
          <a:p>
            <a:pPr algn="ctr">
              <a:defRPr sz="1200" b="1">
                <a:solidFill>
                  <a:srgbClr val="1F3144"/>
                </a:solidFill>
                <a:latin typeface="Aptos"/>
              </a:defRPr>
            </a:pPr>
            <a:r>
              <a:t>Policy-filtered outbound request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"tool": "web_search",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  "query": "Hospitals near Hubballi"</a:t>
            </a:r>
          </a:p>
          <a:p>
            <a:pPr>
              <a:spcAft>
                <a:spcPts val="0"/>
              </a:spcAft>
              <a:defRPr sz="1200">
                <a:solidFill>
                  <a:srgbClr val="313A4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7705B"/>
                </a:solidFill>
                <a:latin typeface="Aptos"/>
              </a:rPr>
              <a:t>Expected result: search still works, while unrelated contact and identity fields never reach the search tool.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6. Tokenization without breaking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Reversible tokens are useful only when the workflow knows where and when to resolve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33756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Example</a:t>
            </a:r>
          </a:p>
          <a:p>
            <a:pPr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Original: "Send to rahul@example.com"</a:t>
            </a:r>
          </a:p>
          <a:p>
            <a:pPr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Tokenized: "Send to [EMAIL_7F2A]"</a:t>
            </a:r>
          </a:p>
          <a:p>
            <a:pPr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The token vault keeps a protected, session-scoped mapping with expiry.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21208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 bIns="201168"/>
          <a:lstStyle/>
          <a:p>
            <a:pPr algn="ctr">
              <a:spcAft>
                <a:spcPts val="500"/>
              </a:spcAft>
              <a:defRPr sz="1600" b="1">
                <a:solidFill>
                  <a:srgbClr val="974C4C"/>
                </a:solidFill>
                <a:latin typeface="Aptos"/>
              </a:defRPr>
            </a:pPr>
            <a:r>
              <a:t>Security rule</a:t>
            </a:r>
          </a:p>
          <a:p>
            <a:pPr>
              <a:spcAft>
                <a:spcPts val="500"/>
              </a:spcAft>
              <a:defRPr sz="1600" b="0">
                <a:solidFill>
                  <a:srgbClr val="313A42"/>
                </a:solidFill>
                <a:latin typeface="Aptos"/>
              </a:defRPr>
            </a:pPr>
            <a:r>
              <a:t>Do not send a token to a tool that expects a real email address and assume it will work.</a:t>
            </a:r>
          </a:p>
          <a:p>
            <a:pPr>
              <a:spcAft>
                <a:spcPts val="500"/>
              </a:spcAft>
              <a:defRPr sz="1500" b="0">
                <a:solidFill>
                  <a:srgbClr val="313A42"/>
                </a:solidFill>
                <a:latin typeface="Aptos"/>
              </a:defRPr>
            </a:pPr>
            <a:r>
              <a:t>Resolve the token only at an approved delivery boundary, and only if the disclosure is authorized.</a:t>
            </a:r>
          </a:p>
          <a:p>
            <a:pPr>
              <a:spcAft>
                <a:spcPts val="500"/>
              </a:spcAft>
              <a:defRPr sz="1300" b="1">
                <a:solidFill>
                  <a:srgbClr val="5D6A75"/>
                </a:solidFill>
                <a:latin typeface="Aptos"/>
              </a:defRPr>
            </a:pPr>
            <a:r>
              <a:t>Tokenization is not encryption by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56889"/>
                </a:solidFill>
                <a:latin typeface="Aptos"/>
              </a:rPr>
              <a:t>Use unpredictable tokens, access controls, short retention, session isolation and safe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7. Proposed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Free and local-first for the prototype; real third-party APIs are optional.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834640" cy="4572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F3144"/>
                </a:solidFill>
                <a:latin typeface="Aptos"/>
              </a:defRPr>
            </a:pPr>
            <a:r>
              <a:t>Backend/API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600200"/>
            <a:ext cx="7223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Python, FastAPI, Pydantic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2834640" cy="4572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F3144"/>
                </a:solidFill>
                <a:latin typeface="Aptos"/>
              </a:defRPr>
            </a:pPr>
            <a:r>
              <a:t>PII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167128"/>
            <a:ext cx="7223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Microsoft Presidio, regex, custom recognizers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34056"/>
            <a:ext cx="2834640" cy="4572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F3144"/>
                </a:solidFill>
                <a:latin typeface="Aptos"/>
              </a:defRPr>
            </a:pPr>
            <a:r>
              <a:t>Agent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734056"/>
            <a:ext cx="7223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Simple Python agent first; LangGraph optional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00984"/>
            <a:ext cx="2834640" cy="4572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F3144"/>
                </a:solidFill>
                <a:latin typeface="Aptos"/>
              </a:defRPr>
            </a:pPr>
            <a:r>
              <a:t>External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300984"/>
            <a:ext cx="7223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Mock search, mock email, SQLite customer lookup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67912"/>
            <a:ext cx="2834640" cy="4572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F3144"/>
                </a:solidFill>
                <a:latin typeface="Aptos"/>
              </a:defRPr>
            </a:pPr>
            <a:r>
              <a:t>Token vault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3867912"/>
            <a:ext cx="7223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Session-scoped in-memory mapping with TTL for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4840"/>
            <a:ext cx="2834640" cy="4572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F314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434840"/>
            <a:ext cx="7223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Pytest, labeled synthetic fixtures, latency measurements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01768"/>
            <a:ext cx="2834640" cy="457200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F3144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5001768"/>
            <a:ext cx="7223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React + Vite after core backend tests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A75"/>
                </a:solidFill>
                <a:latin typeface="Aptos"/>
              </a:rPr>
              <a:t>No LLM API is required to prove the firewall works. Add an agent framework only after interception is tested.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8. Testing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Report measured results; do not hard-code success metrics.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971800" cy="62179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1">
                <a:solidFill>
                  <a:srgbClr val="1F3144"/>
                </a:solidFill>
                <a:latin typeface="Aptos"/>
              </a:defRPr>
            </a:pPr>
            <a:r>
              <a:t>Detection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645920"/>
            <a:ext cx="6949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Precision, recall and F1 on labeled synthetic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32304"/>
            <a:ext cx="2971800" cy="62179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1">
                <a:solidFill>
                  <a:srgbClr val="1F3144"/>
                </a:solidFill>
                <a:latin typeface="Aptos"/>
              </a:defRPr>
            </a:pPr>
            <a:r>
              <a:t>Leakage prevention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432304"/>
            <a:ext cx="6949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Count protected original values observed by each mock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18688"/>
            <a:ext cx="2971800" cy="62179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1">
                <a:solidFill>
                  <a:srgbClr val="1F3144"/>
                </a:solidFill>
                <a:latin typeface="Aptos"/>
              </a:defRPr>
            </a:pPr>
            <a:r>
              <a:t>Policy correctness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218688"/>
            <a:ext cx="6949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Expected allow / redact / block decisions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05072"/>
            <a:ext cx="2971800" cy="62179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1">
                <a:solidFill>
                  <a:srgbClr val="1F3144"/>
                </a:solidFill>
                <a:latin typeface="Aptos"/>
              </a:defRPr>
            </a:pPr>
            <a:r>
              <a:t>Restoration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4005072"/>
            <a:ext cx="6949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Correct-session mapping works; expired/unknown tokens fail safely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91456"/>
            <a:ext cx="2971800" cy="62179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500" b="1">
                <a:solidFill>
                  <a:srgbClr val="1F3144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791456"/>
            <a:ext cx="6949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500"/>
              </a:spcAft>
              <a:defRPr sz="1400" b="0">
                <a:solidFill>
                  <a:srgbClr val="313A42"/>
                </a:solidFill>
                <a:latin typeface="Aptos"/>
              </a:defRPr>
            </a:pPr>
            <a:r>
              <a:t>Measure added latency across repeated test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74C4C"/>
                </a:solidFill>
                <a:latin typeface="Aptos"/>
              </a:rPr>
              <a:t>Target: zero protected-value leaks in the controlled test suite; this is not a guarantee of zero real-world leakage.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9.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Build the security path first, then the agent integration and presentation layer.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74920" cy="98755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500"/>
              </a:spcAft>
              <a:defRPr sz="1100" b="1">
                <a:solidFill>
                  <a:srgbClr val="456889"/>
                </a:solidFill>
                <a:latin typeface="Aptos"/>
              </a:defRPr>
            </a:pPr>
            <a:r>
              <a:t>Phase 1</a:t>
            </a:r>
          </a:p>
          <a:p>
            <a:pPr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Detector + policy registry</a:t>
            </a:r>
          </a:p>
          <a:p>
            <a:pPr>
              <a:spcAft>
                <a:spcPts val="500"/>
              </a:spcAft>
              <a:defRPr sz="1250" b="0">
                <a:solidFill>
                  <a:srgbClr val="313A42"/>
                </a:solidFill>
                <a:latin typeface="Aptos"/>
              </a:defRPr>
            </a:pPr>
            <a:r>
              <a:t>Parse JSON, find PII, classify tool 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07492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500"/>
              </a:spcAft>
              <a:defRPr sz="1100" b="1">
                <a:solidFill>
                  <a:srgbClr val="456889"/>
                </a:solidFill>
                <a:latin typeface="Aptos"/>
              </a:defRPr>
            </a:pPr>
            <a:r>
              <a:t>Phase 2</a:t>
            </a:r>
          </a:p>
          <a:p>
            <a:pPr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Gateway + mock tools</a:t>
            </a:r>
          </a:p>
          <a:p>
            <a:pPr>
              <a:spcAft>
                <a:spcPts val="500"/>
              </a:spcAft>
              <a:defRPr sz="1250" b="0">
                <a:solidFill>
                  <a:srgbClr val="313A42"/>
                </a:solidFill>
                <a:latin typeface="Aptos"/>
              </a:defRPr>
            </a:pPr>
            <a:r>
              <a:t>Enforce all calls; verify actual payloads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44368"/>
            <a:ext cx="5074920" cy="98755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500"/>
              </a:spcAft>
              <a:defRPr sz="1100" b="1">
                <a:solidFill>
                  <a:srgbClr val="456889"/>
                </a:solidFill>
                <a:latin typeface="Aptos"/>
              </a:defRPr>
            </a:pPr>
            <a:r>
              <a:t>Phase 3</a:t>
            </a:r>
          </a:p>
          <a:p>
            <a:pPr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Token vault + response checks</a:t>
            </a:r>
          </a:p>
          <a:p>
            <a:pPr>
              <a:spcAft>
                <a:spcPts val="500"/>
              </a:spcAft>
              <a:defRPr sz="1250" b="0">
                <a:solidFill>
                  <a:srgbClr val="313A42"/>
                </a:solidFill>
                <a:latin typeface="Aptos"/>
              </a:defRPr>
            </a:pPr>
            <a:r>
              <a:t>Scoped tokens, expiry, controlled restoration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944368"/>
            <a:ext cx="507492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500"/>
              </a:spcAft>
              <a:defRPr sz="1100" b="1">
                <a:solidFill>
                  <a:srgbClr val="456889"/>
                </a:solidFill>
                <a:latin typeface="Aptos"/>
              </a:defRPr>
            </a:pPr>
            <a:r>
              <a:t>Phase 4</a:t>
            </a:r>
          </a:p>
          <a:p>
            <a:pPr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Tests + dashboard</a:t>
            </a:r>
          </a:p>
          <a:p>
            <a:pPr>
              <a:spcAft>
                <a:spcPts val="500"/>
              </a:spcAft>
              <a:defRPr sz="1250" b="0">
                <a:solidFill>
                  <a:srgbClr val="313A42"/>
                </a:solidFill>
                <a:latin typeface="Aptos"/>
              </a:defRPr>
            </a:pPr>
            <a:r>
              <a:t>Security cases, metrics, demo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42816"/>
            <a:ext cx="5074920" cy="987552"/>
          </a:xfrm>
          <a:prstGeom prst="roundRect">
            <a:avLst/>
          </a:prstGeom>
          <a:solidFill>
            <a:srgbClr val="F4F6F8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spcAft>
                <a:spcPts val="500"/>
              </a:spcAft>
              <a:defRPr sz="1100" b="1">
                <a:solidFill>
                  <a:srgbClr val="456889"/>
                </a:solidFill>
                <a:latin typeface="Aptos"/>
              </a:defRPr>
            </a:pPr>
            <a:r>
              <a:t>Phase 5</a:t>
            </a:r>
          </a:p>
          <a:p>
            <a:pPr>
              <a:spcAft>
                <a:spcPts val="500"/>
              </a:spcAft>
              <a:defRPr sz="1600" b="1">
                <a:solidFill>
                  <a:srgbClr val="1F3144"/>
                </a:solidFill>
                <a:latin typeface="Aptos"/>
              </a:defRPr>
            </a:pPr>
            <a:r>
              <a:t>Optional LangGraph</a:t>
            </a:r>
          </a:p>
          <a:p>
            <a:pPr>
              <a:spcAft>
                <a:spcPts val="500"/>
              </a:spcAft>
              <a:defRPr sz="1250" b="0">
                <a:solidFill>
                  <a:srgbClr val="313A42"/>
                </a:solidFill>
                <a:latin typeface="Aptos"/>
              </a:defRPr>
            </a:pPr>
            <a:r>
              <a:t>Connect a real agent workflow if time permits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7705B"/>
                </a:solidFill>
                <a:latin typeface="Aptos"/>
              </a:rPr>
              <a:t>Definition of done: every tool call goes through the gateway, tests pass, and the demo shows the real received payload.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3144"/>
                </a:solidFill>
                <a:latin typeface="Aptos"/>
              </a:rPr>
              <a:t>10. Security considerations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A75"/>
                </a:solidFill>
                <a:latin typeface="Aptos"/>
              </a:rPr>
              <a:t>A prototype demonstrates controls; it does not guarantee complete legal or security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927080" cy="13716"/>
          </a:xfrm>
          <a:prstGeom prst="rect">
            <a:avLst/>
          </a:prstGeom>
          <a:solidFill>
            <a:srgbClr val="DA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A75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429768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13A42"/>
                </a:solidFill>
                <a:latin typeface="Aptos"/>
              </a:defRPr>
            </a:pPr>
            <a:r>
              <a:t>•  PII detectors can produce false positives and false negatives; evaluate with labeled test cases.</a:t>
            </a:r>
          </a:p>
          <a:p>
            <a:pPr>
              <a:spcAft>
                <a:spcPts val="1000"/>
              </a:spcAft>
              <a:defRPr sz="1600">
                <a:solidFill>
                  <a:srgbClr val="313A42"/>
                </a:solidFill>
                <a:latin typeface="Aptos"/>
              </a:defRPr>
            </a:pPr>
            <a:r>
              <a:t>•  Field names and schemas show accepted inputs, not necessarily what a tool truly needs.</a:t>
            </a:r>
          </a:p>
          <a:p>
            <a:pPr>
              <a:spcAft>
                <a:spcPts val="1000"/>
              </a:spcAft>
              <a:defRPr sz="1600">
                <a:solidFill>
                  <a:srgbClr val="313A42"/>
                </a:solidFill>
                <a:latin typeface="Aptos"/>
              </a:defRPr>
            </a:pPr>
            <a:r>
              <a:t>•  Unknown tools and missing policies should fail closed.</a:t>
            </a:r>
          </a:p>
          <a:p>
            <a:pPr>
              <a:spcAft>
                <a:spcPts val="1000"/>
              </a:spcAft>
              <a:defRPr sz="1600">
                <a:solidFill>
                  <a:srgbClr val="313A42"/>
                </a:solidFill>
                <a:latin typeface="Aptos"/>
              </a:defRPr>
            </a:pPr>
            <a:r>
              <a:t>•  Never log original PII, token mappings, credentials or unredacted errors.</a:t>
            </a:r>
          </a:p>
          <a:p>
            <a:pPr>
              <a:spcAft>
                <a:spcPts val="1000"/>
              </a:spcAft>
              <a:defRPr sz="1600">
                <a:solidFill>
                  <a:srgbClr val="313A42"/>
                </a:solidFill>
                <a:latin typeface="Aptos"/>
              </a:defRPr>
            </a:pPr>
            <a:r>
              <a:t>•  Tokenization is not encryption; protect mappings with access controls and short retention.</a:t>
            </a:r>
          </a:p>
          <a:p>
            <a:pPr>
              <a:spcAft>
                <a:spcPts val="1000"/>
              </a:spcAft>
              <a:defRPr sz="1600">
                <a:solidFill>
                  <a:srgbClr val="313A42"/>
                </a:solidFill>
                <a:latin typeface="Aptos"/>
              </a:defRPr>
            </a:pPr>
            <a:r>
              <a:t>•  Use only synthetic values; do not test with real Aadhaar, PAN, bank or customer data.</a:t>
            </a:r>
          </a:p>
          <a:p>
            <a:pPr>
              <a:spcAft>
                <a:spcPts val="1000"/>
              </a:spcAft>
              <a:defRPr sz="1600">
                <a:solidFill>
                  <a:srgbClr val="313A42"/>
                </a:solidFill>
                <a:latin typeface="Aptos"/>
              </a:defRPr>
            </a:pPr>
            <a:r>
              <a:t>•  Assess applicable privacy laws separately; the firewall alone does not guarantee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3144"/>
                </a:solidFill>
                <a:latin typeface="Aptos"/>
              </a:rPr>
              <a:t>Design principle: minimum necessary data, explicit authorization, and verifiable enforcement.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56889"/>
                </a:solidFill>
                <a:latin typeface="Aptos"/>
              </a:rPr>
              <a:t>PROTOTYPE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515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3144"/>
                </a:solidFill>
                <a:latin typeface="Aptos"/>
              </a:rPr>
              <a:t>A practical privacy boundary for AI tool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966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313A42"/>
                </a:solidFill>
                <a:latin typeface="Aptos"/>
              </a:rPr>
              <a:t>The firewall detects sensitive data, applies tool-specific policy, and verifies what actually leaves the agent.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83280"/>
            <a:ext cx="10332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219456" bIns="219456"/>
          <a:lstStyle/>
          <a:p>
            <a:pPr algn="ctr">
              <a:spcAft>
                <a:spcPts val="500"/>
              </a:spcAft>
              <a:defRPr sz="1500" b="1">
                <a:solidFill>
                  <a:srgbClr val="5D6A75"/>
                </a:solidFill>
                <a:latin typeface="Aptos"/>
              </a:defRPr>
            </a:pPr>
            <a:r>
              <a:t>Expected prototype deliverables</a:t>
            </a:r>
          </a:p>
          <a:p>
            <a:pPr>
              <a:spcAft>
                <a:spcPts val="500"/>
              </a:spcAft>
              <a:defRPr sz="1700" b="1">
                <a:solidFill>
                  <a:srgbClr val="1F3144"/>
                </a:solidFill>
                <a:latin typeface="Aptos"/>
              </a:defRPr>
            </a:pPr>
            <a:r>
              <a:t>Working FastAPI service • Tool policy registry • Mock tools • Automated tests • Demonstration dashboard • README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9875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313A42"/>
                </a:solidFill>
                <a:latin typeface="Aptos"/>
              </a:rPr>
              <a:t>Open questions for guides: required number of agents/tools, whether mock tools are acceptable, and expected evaluation criteria.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D6A75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